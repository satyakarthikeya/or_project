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2575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Karthikeya – opens with the title, the team and the project name.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Karthikeya – why the problem exists and why OR is needed.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Karthikeya – read the statement, then the four questions the dataset must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Karthik Reddy – six objectives, two of which are the two optimization models.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Karthik Reddy – show the dataset, the column groups, and which columns feed which model. Mention the uniformity note yourself.</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 Karthik Reddy – walk left to right through the six stages, then explain how the two models sit on the same data layer.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P. Satya Karthikeya – tools and what each one is used for. PuLP builds the model, CBC solves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P. Satya Karthikeya – LP model. Continuous variables, six constraint groups, soft demand constraint so the model never turns infeasible.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Rohith – IP model. Binary variables, three capacity constraints, so it is a 0-1 multi-knapsack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Rohith – four scenarios, what is measured in each, and why the shadow price is the most useful output.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Rohith – close on what the review panel should expect in the final presentation.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65826" y="420106"/>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a:t>
            </a:r>
            <a:endParaRPr lang="en-US" sz="1200" dirty="0"/>
          </a:p>
        </p:txBody>
      </p:sp>
      <p:pic>
        <p:nvPicPr>
          <p:cNvPr id="4" name="Image 0" descr="logo.png"/>
          <p:cNvPicPr>
            <a:picLocks noChangeAspect="1"/>
          </p:cNvPicPr>
          <p:nvPr/>
        </p:nvPicPr>
        <p:blipFill>
          <a:blip r:embed="rId3"/>
          <a:stretch>
            <a:fillRect/>
          </a:stretch>
        </p:blipFill>
        <p:spPr>
          <a:xfrm>
            <a:off x="3913632" y="777240"/>
            <a:ext cx="4370832" cy="764438"/>
          </a:xfrm>
          <a:prstGeom prst="rect">
            <a:avLst/>
          </a:prstGeom>
        </p:spPr>
      </p:pic>
      <p:sp>
        <p:nvSpPr>
          <p:cNvPr id="5" name="Text 2"/>
          <p:cNvSpPr/>
          <p:nvPr/>
        </p:nvSpPr>
        <p:spPr>
          <a:xfrm>
            <a:off x="1097280" y="1938528"/>
            <a:ext cx="9994392" cy="731520"/>
          </a:xfrm>
          <a:prstGeom prst="rect">
            <a:avLst/>
          </a:prstGeom>
          <a:noFill/>
          <a:ln/>
        </p:spPr>
        <p:txBody>
          <a:bodyPr wrap="square" lIns="0" tIns="0" rIns="0" bIns="0" rtlCol="0" anchor="ctr"/>
          <a:lstStyle/>
          <a:p>
            <a:pPr marL="0" indent="0" algn="ctr">
              <a:buNone/>
            </a:pPr>
            <a:r>
              <a:rPr lang="en-US" sz="2700" b="1" dirty="0">
                <a:solidFill>
                  <a:srgbClr val="000000"/>
                </a:solidFill>
                <a:latin typeface="Georgia" pitchFamily="34" charset="0"/>
                <a:ea typeface="Georgia" pitchFamily="34" charset="-122"/>
                <a:cs typeface="Georgia" pitchFamily="34" charset="-120"/>
              </a:rPr>
              <a:t>Air Cargo Resource Allocation And Operational Optimizer</a:t>
            </a:r>
            <a:endParaRPr lang="en-US" sz="2700" dirty="0"/>
          </a:p>
        </p:txBody>
      </p:sp>
      <p:sp>
        <p:nvSpPr>
          <p:cNvPr id="6" name="Text 3"/>
          <p:cNvSpPr/>
          <p:nvPr/>
        </p:nvSpPr>
        <p:spPr>
          <a:xfrm>
            <a:off x="1097280" y="2761488"/>
            <a:ext cx="9994392" cy="310896"/>
          </a:xfrm>
          <a:prstGeom prst="rect">
            <a:avLst/>
          </a:prstGeom>
          <a:noFill/>
          <a:ln/>
        </p:spPr>
        <p:txBody>
          <a:bodyPr wrap="square" lIns="0" tIns="0" rIns="0" bIns="0" rtlCol="0" anchor="ctr"/>
          <a:lstStyle/>
          <a:p>
            <a:pPr marL="0" indent="0" algn="ctr">
              <a:buNone/>
            </a:pPr>
            <a:r>
              <a:rPr lang="en-US" sz="1700" b="1" dirty="0">
                <a:solidFill>
                  <a:srgbClr val="000000"/>
                </a:solidFill>
                <a:latin typeface="Calibri" pitchFamily="34" charset="0"/>
                <a:ea typeface="Calibri" pitchFamily="34" charset="-122"/>
                <a:cs typeface="Calibri" pitchFamily="34" charset="-120"/>
              </a:rPr>
              <a:t>Course: </a:t>
            </a:r>
            <a:r>
              <a:rPr lang="en-US" sz="1700" dirty="0">
                <a:solidFill>
                  <a:srgbClr val="000000"/>
                </a:solidFill>
                <a:latin typeface="Calibri" pitchFamily="34" charset="0"/>
                <a:ea typeface="Calibri" pitchFamily="34" charset="-122"/>
                <a:cs typeface="Calibri" pitchFamily="34" charset="-120"/>
              </a:rPr>
              <a:t>23MNG336 Operations Research</a:t>
            </a:r>
            <a:endParaRPr lang="en-US" sz="1700" dirty="0"/>
          </a:p>
        </p:txBody>
      </p:sp>
      <p:sp>
        <p:nvSpPr>
          <p:cNvPr id="7" name="Text 4"/>
          <p:cNvSpPr/>
          <p:nvPr/>
        </p:nvSpPr>
        <p:spPr>
          <a:xfrm>
            <a:off x="1097280" y="3127248"/>
            <a:ext cx="9994392" cy="310896"/>
          </a:xfrm>
          <a:prstGeom prst="rect">
            <a:avLst/>
          </a:prstGeom>
          <a:noFill/>
          <a:ln/>
        </p:spPr>
        <p:txBody>
          <a:bodyPr wrap="square" lIns="0" tIns="0" rIns="0" bIns="0" rtlCol="0" anchor="ctr"/>
          <a:lstStyle/>
          <a:p>
            <a:pPr marL="0" indent="0" algn="ctr">
              <a:buNone/>
            </a:pPr>
            <a:r>
              <a:rPr lang="en-US" sz="1700" b="1" dirty="0">
                <a:solidFill>
                  <a:srgbClr val="000000"/>
                </a:solidFill>
                <a:latin typeface="Georgia" pitchFamily="34" charset="0"/>
                <a:ea typeface="Georgia" pitchFamily="34" charset="-122"/>
                <a:cs typeface="Georgia" pitchFamily="34" charset="-120"/>
              </a:rPr>
              <a:t>Mid Review</a:t>
            </a:r>
            <a:endParaRPr lang="en-US" sz="1700" dirty="0"/>
          </a:p>
        </p:txBody>
      </p:sp>
      <p:sp>
        <p:nvSpPr>
          <p:cNvPr id="8" name="Text 5"/>
          <p:cNvSpPr/>
          <p:nvPr/>
        </p:nvSpPr>
        <p:spPr>
          <a:xfrm>
            <a:off x="1097280" y="3675888"/>
            <a:ext cx="9994392" cy="1828800"/>
          </a:xfrm>
          <a:prstGeom prst="rect">
            <a:avLst/>
          </a:prstGeom>
          <a:noFill/>
          <a:ln/>
        </p:spPr>
        <p:txBody>
          <a:bodyPr wrap="square" lIns="0" tIns="0" rIns="0" bIns="0" rtlCol="0" anchor="t"/>
          <a:lstStyle/>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Student Details:</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B. Karthikeya – CB.AI.U4AID23109</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M. Karthik Reddy – CB.AI.U4AID23123</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P. P. Satya Karthikeya – CB.AI.U4AID23128</a:t>
            </a: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P. Rohith – CB.AI.U4AID23131</a:t>
            </a:r>
            <a:endParaRPr lang="en-US" sz="1500" dirty="0"/>
          </a:p>
          <a:p>
            <a:pPr marL="0" indent="0" algn="ctr">
              <a:lnSpc>
                <a:spcPts val="2200"/>
              </a:lnSpc>
              <a:buNone/>
            </a:pPr>
            <a:endParaRPr lang="en-US" sz="1500" dirty="0"/>
          </a:p>
          <a:p>
            <a:pPr marL="0" indent="0" algn="ctr">
              <a:lnSpc>
                <a:spcPts val="2200"/>
              </a:lnSpc>
              <a:buNone/>
            </a:pPr>
            <a:r>
              <a:rPr lang="en-US" sz="1500" b="1" dirty="0">
                <a:solidFill>
                  <a:srgbClr val="000000"/>
                </a:solidFill>
                <a:latin typeface="Calibri" pitchFamily="34" charset="0"/>
                <a:ea typeface="Calibri" pitchFamily="34" charset="-122"/>
                <a:cs typeface="Calibri" pitchFamily="34" charset="-120"/>
              </a:rPr>
              <a:t>Team Number: AB07</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2</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Introduction</a:t>
            </a:r>
            <a:endParaRPr lang="en-US" sz="3200" dirty="0"/>
          </a:p>
        </p:txBody>
      </p:sp>
      <p:sp>
        <p:nvSpPr>
          <p:cNvPr id="5" name="Text 3"/>
          <p:cNvSpPr/>
          <p:nvPr/>
        </p:nvSpPr>
        <p:spPr>
          <a:xfrm>
            <a:off x="713232" y="1463040"/>
            <a:ext cx="10762488" cy="4526280"/>
          </a:xfrm>
          <a:prstGeom prst="rect">
            <a:avLst/>
          </a:prstGeom>
          <a:noFill/>
          <a:ln/>
        </p:spPr>
        <p:txBody>
          <a:bodyPr wrap="square" lIns="0" tIns="0" rIns="0" bIns="0" rtlCol="0" anchor="t"/>
          <a:lstStyle/>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Air cargo terminals have to handle every incoming shipment using a limited number of workers and a limited amount of ground equipment.</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If workers and equipment are not distributed properly across the terminals, some terminals become congested while others stay under-used.</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All the waiting cargo cannot be processed at the same time, so the terminal also has to decide which shipments should be handled in the current time window.</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Processing shipments in simple arrival order ignores priority, waiting time and queue length, which delays critical and time sensitive cargo.</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This motivates the use of Operations Research and mathematical optimization to decide the resource allocation and the shipment selection while balancing throughput, operational cost and available capacity.</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3</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Problem Statement</a:t>
            </a:r>
            <a:endParaRPr lang="en-US" sz="3200" dirty="0"/>
          </a:p>
        </p:txBody>
      </p:sp>
      <p:sp>
        <p:nvSpPr>
          <p:cNvPr id="5" name="Text 3"/>
          <p:cNvSpPr/>
          <p:nvPr/>
        </p:nvSpPr>
        <p:spPr>
          <a:xfrm>
            <a:off x="713232" y="1481328"/>
            <a:ext cx="10762488" cy="1005840"/>
          </a:xfrm>
          <a:prstGeom prst="rect">
            <a:avLst/>
          </a:prstGeom>
          <a:noFill/>
          <a:ln/>
        </p:spPr>
        <p:txBody>
          <a:bodyPr wrap="square" lIns="0" tIns="0" rIns="0" bIns="0" rtlCol="0" anchor="t"/>
          <a:lstStyle/>
          <a:p>
            <a:pPr marL="0" indent="0">
              <a:lnSpc>
                <a:spcPts val="2500"/>
              </a:lnSpc>
              <a:buNone/>
            </a:pPr>
            <a:r>
              <a:rPr lang="en-US" sz="1700" dirty="0">
                <a:solidFill>
                  <a:srgbClr val="000000"/>
                </a:solidFill>
                <a:latin typeface="Calibri" pitchFamily="34" charset="0"/>
                <a:ea typeface="Calibri" pitchFamily="34" charset="-122"/>
                <a:cs typeface="Calibri" pitchFamily="34" charset="-120"/>
              </a:rPr>
              <a:t>How can a limited workforce and limited equipment be allocated across the terminals of an air cargo facility, and which shipments should be processed in the current time window, so that throughput is maximized, while respecting the available capacity?</a:t>
            </a:r>
            <a:endParaRPr lang="en-US" sz="1700" dirty="0"/>
          </a:p>
        </p:txBody>
      </p:sp>
      <p:sp>
        <p:nvSpPr>
          <p:cNvPr id="6" name="Text 4"/>
          <p:cNvSpPr/>
          <p:nvPr/>
        </p:nvSpPr>
        <p:spPr>
          <a:xfrm>
            <a:off x="713232" y="2606040"/>
            <a:ext cx="10762488" cy="3108960"/>
          </a:xfrm>
          <a:prstGeom prst="rect">
            <a:avLst/>
          </a:prstGeom>
          <a:noFill/>
          <a:ln/>
        </p:spPr>
        <p:txBody>
          <a:bodyPr wrap="square" lIns="0" tIns="0" rIns="0" bIns="0" rtlCol="0" anchor="t"/>
          <a:lstStyle/>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Q1: </a:t>
            </a:r>
            <a:r>
              <a:rPr lang="en-US" sz="1600" dirty="0">
                <a:solidFill>
                  <a:srgbClr val="000000"/>
                </a:solidFill>
                <a:latin typeface="Calibri" pitchFamily="34" charset="0"/>
                <a:ea typeface="Calibri" pitchFamily="34" charset="-122"/>
                <a:cs typeface="Calibri" pitchFamily="34" charset="-120"/>
              </a:rPr>
              <a:t>How many workers and how many equipment units should be assigned to each terminal?</a:t>
            </a:r>
            <a:endParaRPr lang="en-US" sz="1600" dirty="0"/>
          </a:p>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Q2: </a:t>
            </a:r>
            <a:r>
              <a:rPr lang="en-US" sz="1600" dirty="0">
                <a:solidFill>
                  <a:srgbClr val="000000"/>
                </a:solidFill>
                <a:latin typeface="Calibri" pitchFamily="34" charset="0"/>
                <a:ea typeface="Calibri" pitchFamily="34" charset="-122"/>
                <a:cs typeface="Calibri" pitchFamily="34" charset="-120"/>
              </a:rPr>
              <a:t>Which resource is limiting the terminal, and how much extra throughput would one more unit of that resource give?</a:t>
            </a:r>
            <a:endParaRPr lang="en-US" sz="1600" dirty="0"/>
          </a:p>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Q3: </a:t>
            </a:r>
            <a:r>
              <a:rPr lang="en-US" sz="1600" dirty="0">
                <a:solidFill>
                  <a:srgbClr val="000000"/>
                </a:solidFill>
                <a:latin typeface="Calibri" pitchFamily="34" charset="0"/>
                <a:ea typeface="Calibri" pitchFamily="34" charset="-122"/>
                <a:cs typeface="Calibri" pitchFamily="34" charset="-120"/>
              </a:rPr>
              <a:t>When the capacity is not enough for all the waiting cargo, which shipments should be processed first?</a:t>
            </a:r>
            <a:endParaRPr lang="en-US" sz="1600" dirty="0"/>
          </a:p>
          <a:p>
            <a:pPr marL="0" indent="0">
              <a:lnSpc>
                <a:spcPts val="2300"/>
              </a:lnSpc>
              <a:spcAft>
                <a:spcPts val="1200"/>
              </a:spcAft>
              <a:buNone/>
            </a:pPr>
            <a:r>
              <a:rPr lang="en-US" sz="1600" b="1" dirty="0">
                <a:solidFill>
                  <a:srgbClr val="000000"/>
                </a:solidFill>
                <a:latin typeface="Calibri" pitchFamily="34" charset="0"/>
                <a:ea typeface="Calibri" pitchFamily="34" charset="-122"/>
                <a:cs typeface="Calibri" pitchFamily="34" charset="-120"/>
              </a:rPr>
              <a:t>Q4: </a:t>
            </a:r>
            <a:r>
              <a:rPr lang="en-US" sz="1600" dirty="0">
                <a:solidFill>
                  <a:srgbClr val="000000"/>
                </a:solidFill>
                <a:latin typeface="Calibri" pitchFamily="34" charset="0"/>
                <a:ea typeface="Calibri" pitchFamily="34" charset="-122"/>
                <a:cs typeface="Calibri" pitchFamily="34" charset="-120"/>
              </a:rPr>
              <a:t>How much better are these optimized decisions compared to the allocation and the first-come-first-served processing that is followed at present?</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4</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Objectives</a:t>
            </a:r>
            <a:endParaRPr lang="en-US" sz="3200" dirty="0"/>
          </a:p>
        </p:txBody>
      </p:sp>
      <p:sp>
        <p:nvSpPr>
          <p:cNvPr id="5" name="Text 3"/>
          <p:cNvSpPr/>
          <p:nvPr/>
        </p:nvSpPr>
        <p:spPr>
          <a:xfrm>
            <a:off x="786384" y="1823710"/>
            <a:ext cx="10762488" cy="3548907"/>
          </a:xfrm>
          <a:prstGeom prst="rect">
            <a:avLst/>
          </a:prstGeom>
          <a:noFill/>
          <a:ln/>
        </p:spPr>
        <p:txBody>
          <a:bodyPr wrap="square" lIns="0" tIns="0" rIns="0" bIns="0" rtlCol="0" anchor="t"/>
          <a:lstStyle/>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Analyze the air cargo terminal data to identify resource usage and demand patterns across the four terminals.</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Determine the optimal workforce and equipment allocation for each terminal using a Linear Programming model.</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Select the best set of shipments to process under limited capacity using a 0-1 Integer Programming model.</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Perform sensitivity analysis to study how changes in the resource pool, demand and capacity affect the optimization solutions.</a:t>
            </a:r>
            <a:endParaRPr lang="en-US" sz="1650" dirty="0"/>
          </a:p>
          <a:p>
            <a:pPr marL="152400" indent="-152400">
              <a:lnSpc>
                <a:spcPts val="2300"/>
              </a:lnSpc>
              <a:spcAft>
                <a:spcPts val="1200"/>
              </a:spcAft>
              <a:buSzPct val="100000"/>
              <a:buChar char="•"/>
            </a:pPr>
            <a:r>
              <a:rPr lang="en-US" sz="1650" dirty="0">
                <a:solidFill>
                  <a:srgbClr val="000000"/>
                </a:solidFill>
                <a:latin typeface="Calibri" pitchFamily="34" charset="0"/>
                <a:ea typeface="Calibri" pitchFamily="34" charset="-122"/>
                <a:cs typeface="Calibri" pitchFamily="34" charset="-120"/>
              </a:rPr>
              <a:t>Develop an interactive decision support interface that allows the user to explore the dataset and run either optimization model.</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5</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Dataset</a:t>
            </a:r>
            <a:endParaRPr lang="en-US" sz="3200" dirty="0"/>
          </a:p>
        </p:txBody>
      </p:sp>
      <p:sp>
        <p:nvSpPr>
          <p:cNvPr id="5" name="Text 3"/>
          <p:cNvSpPr/>
          <p:nvPr/>
        </p:nvSpPr>
        <p:spPr>
          <a:xfrm>
            <a:off x="713232" y="1463040"/>
            <a:ext cx="5120640" cy="1097280"/>
          </a:xfrm>
          <a:prstGeom prst="rect">
            <a:avLst/>
          </a:prstGeom>
          <a:noFill/>
          <a:ln/>
        </p:spPr>
        <p:txBody>
          <a:bodyPr wrap="square" lIns="0" tIns="0" rIns="0" bIns="0" rtlCol="0" anchor="t"/>
          <a:lstStyle/>
          <a:p>
            <a:pPr marL="0" indent="0">
              <a:lnSpc>
                <a:spcPts val="2100"/>
              </a:lnSpc>
              <a:buNone/>
            </a:pPr>
            <a:r>
              <a:rPr lang="en-US" sz="1450" b="1" dirty="0">
                <a:solidFill>
                  <a:srgbClr val="000000"/>
                </a:solidFill>
                <a:latin typeface="Calibri" pitchFamily="34" charset="0"/>
                <a:ea typeface="Calibri" pitchFamily="34" charset="-122"/>
                <a:cs typeface="Calibri" pitchFamily="34" charset="-120"/>
              </a:rPr>
              <a:t>Dataset: </a:t>
            </a:r>
            <a:r>
              <a:rPr lang="en-US" sz="1450" dirty="0">
                <a:solidFill>
                  <a:srgbClr val="000000"/>
                </a:solidFill>
                <a:latin typeface="Calibri" pitchFamily="34" charset="0"/>
                <a:ea typeface="Calibri" pitchFamily="34" charset="-122"/>
                <a:cs typeface="Calibri" pitchFamily="34" charset="-120"/>
              </a:rPr>
              <a:t>Air Cargo Resource Allocation Dataset  (Kaggle, CC0 / Public Domain)</a:t>
            </a:r>
            <a:endParaRPr lang="en-US" sz="1450" dirty="0"/>
          </a:p>
          <a:p>
            <a:pPr marL="0" indent="0">
              <a:lnSpc>
                <a:spcPts val="2100"/>
              </a:lnSpc>
              <a:buNone/>
            </a:pPr>
            <a:r>
              <a:rPr lang="en-US" sz="1450" b="1" dirty="0">
                <a:solidFill>
                  <a:srgbClr val="000000"/>
                </a:solidFill>
                <a:latin typeface="Calibri" pitchFamily="34" charset="0"/>
                <a:ea typeface="Calibri" pitchFamily="34" charset="-122"/>
                <a:cs typeface="Calibri" pitchFamily="34" charset="-120"/>
              </a:rPr>
              <a:t>Records: </a:t>
            </a:r>
            <a:r>
              <a:rPr lang="en-US" sz="1450" dirty="0">
                <a:solidFill>
                  <a:srgbClr val="000000"/>
                </a:solidFill>
                <a:latin typeface="Calibri" pitchFamily="34" charset="0"/>
                <a:ea typeface="Calibri" pitchFamily="34" charset="-122"/>
                <a:cs typeface="Calibri" pitchFamily="34" charset="-120"/>
              </a:rPr>
              <a:t>5,000 shipment handling records</a:t>
            </a:r>
            <a:endParaRPr lang="en-US" sz="1450" dirty="0"/>
          </a:p>
          <a:p>
            <a:pPr marL="0" indent="0">
              <a:lnSpc>
                <a:spcPts val="2100"/>
              </a:lnSpc>
              <a:buNone/>
            </a:pPr>
            <a:r>
              <a:rPr lang="en-US" sz="1450" b="1" dirty="0">
                <a:solidFill>
                  <a:srgbClr val="000000"/>
                </a:solidFill>
                <a:latin typeface="Calibri" pitchFamily="34" charset="0"/>
                <a:ea typeface="Calibri" pitchFamily="34" charset="-122"/>
                <a:cs typeface="Calibri" pitchFamily="34" charset="-120"/>
              </a:rPr>
              <a:t>Year: </a:t>
            </a:r>
            <a:r>
              <a:rPr lang="en-US" sz="1450" dirty="0">
                <a:solidFill>
                  <a:srgbClr val="000000"/>
                </a:solidFill>
                <a:latin typeface="Calibri" pitchFamily="34" charset="0"/>
                <a:ea typeface="Calibri" pitchFamily="34" charset="-122"/>
                <a:cs typeface="Calibri" pitchFamily="34" charset="-120"/>
              </a:rPr>
              <a:t>2024        </a:t>
            </a:r>
            <a:r>
              <a:rPr lang="en-US" sz="1450" b="1" dirty="0">
                <a:solidFill>
                  <a:srgbClr val="000000"/>
                </a:solidFill>
                <a:latin typeface="Calibri" pitchFamily="34" charset="0"/>
                <a:ea typeface="Calibri" pitchFamily="34" charset="-122"/>
                <a:cs typeface="Calibri" pitchFamily="34" charset="-120"/>
              </a:rPr>
              <a:t>Features: </a:t>
            </a:r>
            <a:r>
              <a:rPr lang="en-US" sz="1450" dirty="0">
                <a:solidFill>
                  <a:srgbClr val="000000"/>
                </a:solidFill>
                <a:latin typeface="Calibri" pitchFamily="34" charset="0"/>
                <a:ea typeface="Calibri" pitchFamily="34" charset="-122"/>
                <a:cs typeface="Calibri" pitchFamily="34" charset="-120"/>
              </a:rPr>
              <a:t>28 variables        </a:t>
            </a:r>
            <a:r>
              <a:rPr lang="en-US" sz="1450" b="1" dirty="0">
                <a:solidFill>
                  <a:srgbClr val="000000"/>
                </a:solidFill>
                <a:latin typeface="Calibri" pitchFamily="34" charset="0"/>
                <a:ea typeface="Calibri" pitchFamily="34" charset="-122"/>
                <a:cs typeface="Calibri" pitchFamily="34" charset="-120"/>
              </a:rPr>
              <a:t>Terminals: </a:t>
            </a:r>
            <a:r>
              <a:rPr lang="en-US" sz="1450" dirty="0">
                <a:solidFill>
                  <a:srgbClr val="000000"/>
                </a:solidFill>
                <a:latin typeface="Calibri" pitchFamily="34" charset="0"/>
                <a:ea typeface="Calibri" pitchFamily="34" charset="-122"/>
                <a:cs typeface="Calibri" pitchFamily="34" charset="-120"/>
              </a:rPr>
              <a:t>4  (T1 – T4)</a:t>
            </a:r>
            <a:endParaRPr lang="en-US" sz="1450" dirty="0"/>
          </a:p>
        </p:txBody>
      </p:sp>
      <p:sp>
        <p:nvSpPr>
          <p:cNvPr id="6" name="Text 4"/>
          <p:cNvSpPr/>
          <p:nvPr/>
        </p:nvSpPr>
        <p:spPr>
          <a:xfrm>
            <a:off x="713232" y="2606040"/>
            <a:ext cx="5120640" cy="256032"/>
          </a:xfrm>
          <a:prstGeom prst="rect">
            <a:avLst/>
          </a:prstGeom>
          <a:noFill/>
          <a:ln/>
        </p:spPr>
        <p:txBody>
          <a:bodyPr wrap="square" lIns="0" tIns="0" rIns="0" bIns="0" rtlCol="0" anchor="ctr"/>
          <a:lstStyle/>
          <a:p>
            <a:pPr marL="0" indent="0">
              <a:buNone/>
            </a:pPr>
            <a:r>
              <a:rPr lang="en-US" sz="1400" b="1" dirty="0">
                <a:solidFill>
                  <a:srgbClr val="000000"/>
                </a:solidFill>
                <a:latin typeface="Georgia" pitchFamily="34" charset="0"/>
                <a:ea typeface="Georgia" pitchFamily="34" charset="-122"/>
                <a:cs typeface="Georgia" pitchFamily="34" charset="-120"/>
              </a:rPr>
              <a:t>Why This Dataset?</a:t>
            </a:r>
            <a:endParaRPr lang="en-US" sz="1400" dirty="0"/>
          </a:p>
        </p:txBody>
      </p:sp>
      <p:sp>
        <p:nvSpPr>
          <p:cNvPr id="7" name="Text 5"/>
          <p:cNvSpPr/>
          <p:nvPr/>
        </p:nvSpPr>
        <p:spPr>
          <a:xfrm>
            <a:off x="713232" y="2926080"/>
            <a:ext cx="5120640" cy="1828800"/>
          </a:xfrm>
          <a:prstGeom prst="rect">
            <a:avLst/>
          </a:prstGeom>
          <a:noFill/>
          <a:ln/>
        </p:spPr>
        <p:txBody>
          <a:bodyPr wrap="square" lIns="0" tIns="0" rIns="0" bIns="0" rtlCol="0" anchor="t"/>
          <a:lstStyle/>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Provides real operational data of an air cargo terminal.</a:t>
            </a:r>
            <a:endParaRPr lang="en-US" sz="1350" dirty="0"/>
          </a:p>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Contains the resource, capacity and performance information needed for allocation decisions.</a:t>
            </a:r>
            <a:endParaRPr lang="en-US" sz="1350" dirty="0"/>
          </a:p>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Allows us to study the relation between workforce, equipment, congestion and throughput.</a:t>
            </a:r>
            <a:endParaRPr lang="en-US" sz="1350" dirty="0"/>
          </a:p>
          <a:p>
            <a:pPr marL="152400" indent="-152400">
              <a:lnSpc>
                <a:spcPts val="1800"/>
              </a:lnSpc>
              <a:spcAft>
                <a:spcPts val="700"/>
              </a:spcAft>
              <a:buSzPct val="100000"/>
              <a:buChar char="•"/>
            </a:pPr>
            <a:r>
              <a:rPr lang="en-US" sz="1350" dirty="0">
                <a:solidFill>
                  <a:srgbClr val="000000"/>
                </a:solidFill>
                <a:latin typeface="Calibri" pitchFamily="34" charset="0"/>
                <a:ea typeface="Calibri" pitchFamily="34" charset="-122"/>
                <a:cs typeface="Calibri" pitchFamily="34" charset="-120"/>
              </a:rPr>
              <a:t>Provides a basis for developing resource allocation and shipment selection optimization models.</a:t>
            </a:r>
            <a:endParaRPr lang="en-US" sz="1350" dirty="0"/>
          </a:p>
        </p:txBody>
      </p:sp>
      <p:sp>
        <p:nvSpPr>
          <p:cNvPr id="8" name="Shape 6"/>
          <p:cNvSpPr/>
          <p:nvPr/>
        </p:nvSpPr>
        <p:spPr>
          <a:xfrm>
            <a:off x="6144768" y="1463040"/>
            <a:ext cx="5330952" cy="1920240"/>
          </a:xfrm>
          <a:prstGeom prst="rect">
            <a:avLst/>
          </a:prstGeom>
          <a:solidFill>
            <a:srgbClr val="F2F2F2"/>
          </a:solidFill>
          <a:ln w="9525">
            <a:solidFill>
              <a:srgbClr val="000000"/>
            </a:solidFill>
            <a:prstDash val="solid"/>
          </a:ln>
        </p:spPr>
      </p:sp>
      <p:sp>
        <p:nvSpPr>
          <p:cNvPr id="9" name="Text 7"/>
          <p:cNvSpPr/>
          <p:nvPr/>
        </p:nvSpPr>
        <p:spPr>
          <a:xfrm>
            <a:off x="6327648" y="1600200"/>
            <a:ext cx="4965192" cy="1645920"/>
          </a:xfrm>
          <a:prstGeom prst="rect">
            <a:avLst/>
          </a:prstGeom>
          <a:noFill/>
          <a:ln/>
        </p:spPr>
        <p:txBody>
          <a:bodyPr wrap="square" lIns="0" tIns="0" rIns="0" bIns="0" rtlCol="0" anchor="t"/>
          <a:lstStyle/>
          <a:p>
            <a:pPr marL="0" indent="0">
              <a:lnSpc>
                <a:spcPts val="1900"/>
              </a:lnSpc>
              <a:buNone/>
            </a:pPr>
            <a:r>
              <a:rPr lang="en-US" sz="1300" b="1" dirty="0">
                <a:solidFill>
                  <a:srgbClr val="000000"/>
                </a:solidFill>
                <a:latin typeface="Calibri" pitchFamily="34" charset="0"/>
                <a:ea typeface="Calibri" pitchFamily="34" charset="-122"/>
                <a:cs typeface="Calibri" pitchFamily="34" charset="-120"/>
              </a:rPr>
              <a:t>Model 1 — Resource Allocation Optimization (LP)</a:t>
            </a:r>
            <a:endParaRPr lang="en-US" sz="1300" dirty="0"/>
          </a:p>
          <a:p>
            <a:pPr marL="0" indent="0">
              <a:lnSpc>
                <a:spcPts val="1900"/>
              </a:lnSpc>
              <a:buNone/>
            </a:pPr>
            <a:r>
              <a:rPr lang="en-US" sz="1300" dirty="0">
                <a:solidFill>
                  <a:srgbClr val="000000"/>
                </a:solidFill>
                <a:latin typeface="Calibri" pitchFamily="34" charset="0"/>
                <a:ea typeface="Calibri" pitchFamily="34" charset="-122"/>
                <a:cs typeface="Calibri" pitchFamily="34" charset="-120"/>
              </a:rPr>
              <a:t>Terminal_ID, Workforce_Assigned, Equipment_Used, Throughput_Rate, Demand_Forecast.</a:t>
            </a:r>
            <a:endParaRPr lang="en-US" sz="1300" dirty="0"/>
          </a:p>
        </p:txBody>
      </p:sp>
      <p:sp>
        <p:nvSpPr>
          <p:cNvPr id="10" name="Shape 8"/>
          <p:cNvSpPr/>
          <p:nvPr/>
        </p:nvSpPr>
        <p:spPr>
          <a:xfrm>
            <a:off x="6096000" y="3493008"/>
            <a:ext cx="5330952" cy="1920240"/>
          </a:xfrm>
          <a:prstGeom prst="rect">
            <a:avLst/>
          </a:prstGeom>
          <a:solidFill>
            <a:srgbClr val="F2F2F2"/>
          </a:solidFill>
          <a:ln w="9525">
            <a:solidFill>
              <a:srgbClr val="000000"/>
            </a:solidFill>
            <a:prstDash val="solid"/>
          </a:ln>
        </p:spPr>
      </p:sp>
      <p:sp>
        <p:nvSpPr>
          <p:cNvPr id="11" name="Text 9"/>
          <p:cNvSpPr/>
          <p:nvPr/>
        </p:nvSpPr>
        <p:spPr>
          <a:xfrm>
            <a:off x="6327648" y="3630168"/>
            <a:ext cx="4965192" cy="1645920"/>
          </a:xfrm>
          <a:prstGeom prst="rect">
            <a:avLst/>
          </a:prstGeom>
          <a:noFill/>
          <a:ln/>
        </p:spPr>
        <p:txBody>
          <a:bodyPr wrap="square" lIns="0" tIns="0" rIns="0" bIns="0" rtlCol="0" anchor="t"/>
          <a:lstStyle/>
          <a:p>
            <a:pPr marL="0" indent="0">
              <a:lnSpc>
                <a:spcPts val="1900"/>
              </a:lnSpc>
              <a:buNone/>
            </a:pPr>
            <a:r>
              <a:rPr lang="en-US" sz="1300" b="1" dirty="0">
                <a:solidFill>
                  <a:srgbClr val="000000"/>
                </a:solidFill>
                <a:latin typeface="Calibri" pitchFamily="34" charset="0"/>
                <a:ea typeface="Calibri" pitchFamily="34" charset="-122"/>
                <a:cs typeface="Calibri" pitchFamily="34" charset="-120"/>
              </a:rPr>
              <a:t>Model 2 — Shipment Selection Optimization (IP)</a:t>
            </a:r>
            <a:endParaRPr lang="en-US" sz="1300" dirty="0"/>
          </a:p>
          <a:p>
            <a:r>
              <a:rPr lang="en-US" sz="1200" dirty="0">
                <a:solidFill>
                  <a:srgbClr val="000000"/>
                </a:solidFill>
                <a:latin typeface="Calibri" pitchFamily="34" charset="0"/>
                <a:ea typeface="Calibri" pitchFamily="34" charset="-122"/>
                <a:cs typeface="Calibri" pitchFamily="34" charset="-120"/>
              </a:rPr>
              <a:t>Record_ID, Timestamp, Cargo_Volume, </a:t>
            </a:r>
            <a:r>
              <a:rPr lang="en-US" sz="1200" dirty="0" err="1"/>
              <a:t>Shipment_Priority</a:t>
            </a:r>
            <a:r>
              <a:rPr lang="en-US" sz="1200" dirty="0">
                <a:solidFill>
                  <a:srgbClr val="000000"/>
                </a:solidFill>
                <a:latin typeface="Calibri" pitchFamily="34" charset="0"/>
                <a:ea typeface="Calibri" pitchFamily="34" charset="-122"/>
                <a:cs typeface="Calibri" pitchFamily="34" charset="-120"/>
              </a:rPr>
              <a:t>, Handling_Time, Waiting_Time, Queue_Length, Workforce_Assigned, Equipment_Used.</a:t>
            </a:r>
            <a:endParaRPr lang="en-US" sz="1200" dirty="0"/>
          </a:p>
        </p:txBody>
      </p:sp>
      <p:sp>
        <p:nvSpPr>
          <p:cNvPr id="12" name="Text 10"/>
          <p:cNvSpPr/>
          <p:nvPr/>
        </p:nvSpPr>
        <p:spPr>
          <a:xfrm>
            <a:off x="713232" y="5468112"/>
            <a:ext cx="10762488" cy="457200"/>
          </a:xfrm>
          <a:prstGeom prst="rect">
            <a:avLst/>
          </a:prstGeom>
          <a:noFill/>
          <a:ln/>
        </p:spPr>
        <p:txBody>
          <a:bodyPr wrap="square" lIns="0" tIns="0" rIns="0" bIns="0" rtlCol="0" anchor="t"/>
          <a:lstStyle/>
          <a:p>
            <a:pPr marL="0" indent="0">
              <a:lnSpc>
                <a:spcPts val="1700"/>
              </a:lnSpc>
              <a:buNone/>
            </a:pP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67551" y="420106"/>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6</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Proposed Methodology</a:t>
            </a:r>
            <a:endParaRPr lang="en-US" sz="3200" dirty="0"/>
          </a:p>
        </p:txBody>
      </p:sp>
      <p:sp>
        <p:nvSpPr>
          <p:cNvPr id="5" name="Shape 3"/>
          <p:cNvSpPr/>
          <p:nvPr/>
        </p:nvSpPr>
        <p:spPr>
          <a:xfrm>
            <a:off x="713232" y="1371600"/>
            <a:ext cx="1700784" cy="603504"/>
          </a:xfrm>
          <a:prstGeom prst="rect">
            <a:avLst/>
          </a:prstGeom>
          <a:solidFill>
            <a:srgbClr val="30538A"/>
          </a:solidFill>
          <a:ln w="9525">
            <a:solidFill>
              <a:srgbClr val="30538A"/>
            </a:solidFill>
            <a:prstDash val="solid"/>
          </a:ln>
        </p:spPr>
      </p:sp>
      <p:sp>
        <p:nvSpPr>
          <p:cNvPr id="6" name="Shape 4"/>
          <p:cNvSpPr/>
          <p:nvPr/>
        </p:nvSpPr>
        <p:spPr>
          <a:xfrm>
            <a:off x="1426464" y="1417320"/>
            <a:ext cx="274320" cy="274320"/>
          </a:xfrm>
          <a:prstGeom prst="ellipse">
            <a:avLst/>
          </a:prstGeom>
          <a:solidFill>
            <a:srgbClr val="FFFFFF"/>
          </a:solidFill>
          <a:ln w="6350">
            <a:solidFill>
              <a:srgbClr val="FFFFFF"/>
            </a:solidFill>
            <a:prstDash val="solid"/>
          </a:ln>
        </p:spPr>
      </p:sp>
      <p:sp>
        <p:nvSpPr>
          <p:cNvPr id="7" name="Text 5"/>
          <p:cNvSpPr/>
          <p:nvPr/>
        </p:nvSpPr>
        <p:spPr>
          <a:xfrm>
            <a:off x="1426464" y="1417320"/>
            <a:ext cx="274320" cy="274320"/>
          </a:xfrm>
          <a:prstGeom prst="rect">
            <a:avLst/>
          </a:prstGeom>
          <a:noFill/>
          <a:ln/>
        </p:spPr>
        <p:txBody>
          <a:bodyPr wrap="square" lIns="0" tIns="0" rIns="0" bIns="0" rtlCol="0" anchor="ctr"/>
          <a:lstStyle/>
          <a:p>
            <a:pPr marL="0" indent="0" algn="ctr">
              <a:buNone/>
            </a:pPr>
            <a:r>
              <a:rPr lang="en-US" sz="1100" b="1" dirty="0">
                <a:solidFill>
                  <a:srgbClr val="30538A"/>
                </a:solidFill>
                <a:latin typeface="Calibri" pitchFamily="34" charset="0"/>
                <a:ea typeface="Calibri" pitchFamily="34" charset="-122"/>
                <a:cs typeface="Calibri" pitchFamily="34" charset="-120"/>
              </a:rPr>
              <a:t>1</a:t>
            </a:r>
            <a:endParaRPr lang="en-US" sz="1100" dirty="0"/>
          </a:p>
        </p:txBody>
      </p:sp>
      <p:sp>
        <p:nvSpPr>
          <p:cNvPr id="8" name="Text 6"/>
          <p:cNvSpPr/>
          <p:nvPr/>
        </p:nvSpPr>
        <p:spPr>
          <a:xfrm>
            <a:off x="749808"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DATASET</a:t>
            </a:r>
            <a:endParaRPr lang="en-US" sz="900" dirty="0"/>
          </a:p>
        </p:txBody>
      </p:sp>
      <p:sp>
        <p:nvSpPr>
          <p:cNvPr id="9" name="Shape 7"/>
          <p:cNvSpPr/>
          <p:nvPr/>
        </p:nvSpPr>
        <p:spPr>
          <a:xfrm>
            <a:off x="713232" y="1975104"/>
            <a:ext cx="1700784" cy="1078992"/>
          </a:xfrm>
          <a:prstGeom prst="rect">
            <a:avLst/>
          </a:prstGeom>
          <a:solidFill>
            <a:srgbClr val="FFFFFF"/>
          </a:solidFill>
          <a:ln w="9525">
            <a:solidFill>
              <a:srgbClr val="30538A"/>
            </a:solidFill>
            <a:prstDash val="solid"/>
          </a:ln>
        </p:spPr>
      </p:sp>
      <p:sp>
        <p:nvSpPr>
          <p:cNvPr id="10" name="Text 8"/>
          <p:cNvSpPr/>
          <p:nvPr/>
        </p:nvSpPr>
        <p:spPr>
          <a:xfrm>
            <a:off x="795528"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5,000 records, 28 features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4 terminals (T1 – T4)</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Kaggle, CC0 licence</a:t>
            </a:r>
            <a:endParaRPr lang="en-US" sz="950" dirty="0"/>
          </a:p>
        </p:txBody>
      </p:sp>
      <p:sp>
        <p:nvSpPr>
          <p:cNvPr id="11" name="Shape 9"/>
          <p:cNvSpPr/>
          <p:nvPr/>
        </p:nvSpPr>
        <p:spPr>
          <a:xfrm>
            <a:off x="2414016" y="2514600"/>
            <a:ext cx="118872" cy="0"/>
          </a:xfrm>
          <a:prstGeom prst="line">
            <a:avLst/>
          </a:prstGeom>
          <a:noFill/>
          <a:ln w="15875">
            <a:solidFill>
              <a:srgbClr val="808080"/>
            </a:solidFill>
            <a:prstDash val="solid"/>
            <a:tailEnd type="triangle"/>
          </a:ln>
        </p:spPr>
      </p:sp>
      <p:sp>
        <p:nvSpPr>
          <p:cNvPr id="12" name="Shape 10"/>
          <p:cNvSpPr/>
          <p:nvPr/>
        </p:nvSpPr>
        <p:spPr>
          <a:xfrm>
            <a:off x="2532888" y="1371600"/>
            <a:ext cx="1700784" cy="603504"/>
          </a:xfrm>
          <a:prstGeom prst="rect">
            <a:avLst/>
          </a:prstGeom>
          <a:solidFill>
            <a:srgbClr val="2E7D4F"/>
          </a:solidFill>
          <a:ln w="9525">
            <a:solidFill>
              <a:srgbClr val="2E7D4F"/>
            </a:solidFill>
            <a:prstDash val="solid"/>
          </a:ln>
        </p:spPr>
      </p:sp>
      <p:sp>
        <p:nvSpPr>
          <p:cNvPr id="13" name="Shape 11"/>
          <p:cNvSpPr/>
          <p:nvPr/>
        </p:nvSpPr>
        <p:spPr>
          <a:xfrm>
            <a:off x="3246120" y="1417320"/>
            <a:ext cx="274320" cy="274320"/>
          </a:xfrm>
          <a:prstGeom prst="ellipse">
            <a:avLst/>
          </a:prstGeom>
          <a:solidFill>
            <a:srgbClr val="FFFFFF"/>
          </a:solidFill>
          <a:ln w="6350">
            <a:solidFill>
              <a:srgbClr val="FFFFFF"/>
            </a:solidFill>
            <a:prstDash val="solid"/>
          </a:ln>
        </p:spPr>
      </p:sp>
      <p:sp>
        <p:nvSpPr>
          <p:cNvPr id="14" name="Text 12"/>
          <p:cNvSpPr/>
          <p:nvPr/>
        </p:nvSpPr>
        <p:spPr>
          <a:xfrm>
            <a:off x="3246120" y="1417320"/>
            <a:ext cx="274320" cy="274320"/>
          </a:xfrm>
          <a:prstGeom prst="rect">
            <a:avLst/>
          </a:prstGeom>
          <a:noFill/>
          <a:ln/>
        </p:spPr>
        <p:txBody>
          <a:bodyPr wrap="square" lIns="0" tIns="0" rIns="0" bIns="0" rtlCol="0" anchor="ctr"/>
          <a:lstStyle/>
          <a:p>
            <a:pPr marL="0" indent="0" algn="ctr">
              <a:buNone/>
            </a:pPr>
            <a:r>
              <a:rPr lang="en-US" sz="1100" b="1" dirty="0">
                <a:solidFill>
                  <a:srgbClr val="2E7D4F"/>
                </a:solidFill>
                <a:latin typeface="Calibri" pitchFamily="34" charset="0"/>
                <a:ea typeface="Calibri" pitchFamily="34" charset="-122"/>
                <a:cs typeface="Calibri" pitchFamily="34" charset="-120"/>
              </a:rPr>
              <a:t>2</a:t>
            </a:r>
            <a:endParaRPr lang="en-US" sz="1100" dirty="0"/>
          </a:p>
        </p:txBody>
      </p:sp>
      <p:sp>
        <p:nvSpPr>
          <p:cNvPr id="15" name="Text 13"/>
          <p:cNvSpPr/>
          <p:nvPr/>
        </p:nvSpPr>
        <p:spPr>
          <a:xfrm>
            <a:off x="2569464"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PREPROCESSING</a:t>
            </a:r>
            <a:endParaRPr lang="en-US" sz="900" dirty="0"/>
          </a:p>
        </p:txBody>
      </p:sp>
      <p:sp>
        <p:nvSpPr>
          <p:cNvPr id="16" name="Shape 14"/>
          <p:cNvSpPr/>
          <p:nvPr/>
        </p:nvSpPr>
        <p:spPr>
          <a:xfrm>
            <a:off x="2532888" y="1975104"/>
            <a:ext cx="1700784" cy="1078992"/>
          </a:xfrm>
          <a:prstGeom prst="rect">
            <a:avLst/>
          </a:prstGeom>
          <a:solidFill>
            <a:srgbClr val="FFFFFF"/>
          </a:solidFill>
          <a:ln w="9525">
            <a:solidFill>
              <a:srgbClr val="2E7D4F"/>
            </a:solidFill>
            <a:prstDash val="solid"/>
          </a:ln>
        </p:spPr>
      </p:sp>
      <p:sp>
        <p:nvSpPr>
          <p:cNvPr id="17" name="Text 15"/>
          <p:cNvSpPr/>
          <p:nvPr/>
        </p:nvSpPr>
        <p:spPr>
          <a:xfrm>
            <a:off x="2615184"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Check ranges and data types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Group the records terminal-wise</a:t>
            </a:r>
            <a:endParaRPr lang="en-US" sz="950" dirty="0"/>
          </a:p>
          <a:p>
            <a:pPr>
              <a:lnSpc>
                <a:spcPts val="1200"/>
              </a:lnSpc>
              <a:spcAft>
                <a:spcPts val="600"/>
              </a:spcAft>
              <a:buSzPct val="100000"/>
            </a:pPr>
            <a:endParaRPr lang="en-US" sz="950" dirty="0"/>
          </a:p>
        </p:txBody>
      </p:sp>
      <p:sp>
        <p:nvSpPr>
          <p:cNvPr id="18" name="Shape 16"/>
          <p:cNvSpPr/>
          <p:nvPr/>
        </p:nvSpPr>
        <p:spPr>
          <a:xfrm>
            <a:off x="4233672" y="2514600"/>
            <a:ext cx="118872" cy="0"/>
          </a:xfrm>
          <a:prstGeom prst="line">
            <a:avLst/>
          </a:prstGeom>
          <a:noFill/>
          <a:ln w="15875">
            <a:solidFill>
              <a:srgbClr val="808080"/>
            </a:solidFill>
            <a:prstDash val="solid"/>
            <a:tailEnd type="triangle"/>
          </a:ln>
        </p:spPr>
      </p:sp>
      <p:sp>
        <p:nvSpPr>
          <p:cNvPr id="19" name="Shape 17"/>
          <p:cNvSpPr/>
          <p:nvPr/>
        </p:nvSpPr>
        <p:spPr>
          <a:xfrm>
            <a:off x="4352544" y="1371600"/>
            <a:ext cx="1700784" cy="603504"/>
          </a:xfrm>
          <a:prstGeom prst="rect">
            <a:avLst/>
          </a:prstGeom>
          <a:solidFill>
            <a:srgbClr val="B0761A"/>
          </a:solidFill>
          <a:ln w="9525">
            <a:solidFill>
              <a:srgbClr val="B0761A"/>
            </a:solidFill>
            <a:prstDash val="solid"/>
          </a:ln>
        </p:spPr>
      </p:sp>
      <p:sp>
        <p:nvSpPr>
          <p:cNvPr id="20" name="Shape 18"/>
          <p:cNvSpPr/>
          <p:nvPr/>
        </p:nvSpPr>
        <p:spPr>
          <a:xfrm>
            <a:off x="5065776" y="1417320"/>
            <a:ext cx="274320" cy="274320"/>
          </a:xfrm>
          <a:prstGeom prst="ellipse">
            <a:avLst/>
          </a:prstGeom>
          <a:solidFill>
            <a:srgbClr val="FFFFFF"/>
          </a:solidFill>
          <a:ln w="6350">
            <a:solidFill>
              <a:srgbClr val="FFFFFF"/>
            </a:solidFill>
            <a:prstDash val="solid"/>
          </a:ln>
        </p:spPr>
      </p:sp>
      <p:sp>
        <p:nvSpPr>
          <p:cNvPr id="21" name="Text 19"/>
          <p:cNvSpPr/>
          <p:nvPr/>
        </p:nvSpPr>
        <p:spPr>
          <a:xfrm>
            <a:off x="5065776" y="1417320"/>
            <a:ext cx="274320" cy="274320"/>
          </a:xfrm>
          <a:prstGeom prst="rect">
            <a:avLst/>
          </a:prstGeom>
          <a:noFill/>
          <a:ln/>
        </p:spPr>
        <p:txBody>
          <a:bodyPr wrap="square" lIns="0" tIns="0" rIns="0" bIns="0" rtlCol="0" anchor="ctr"/>
          <a:lstStyle/>
          <a:p>
            <a:pPr marL="0" indent="0" algn="ctr">
              <a:buNone/>
            </a:pPr>
            <a:r>
              <a:rPr lang="en-US" sz="1100" b="1" dirty="0">
                <a:solidFill>
                  <a:srgbClr val="B0761A"/>
                </a:solidFill>
                <a:latin typeface="Calibri" pitchFamily="34" charset="0"/>
                <a:ea typeface="Calibri" pitchFamily="34" charset="-122"/>
                <a:cs typeface="Calibri" pitchFamily="34" charset="-120"/>
              </a:rPr>
              <a:t>3</a:t>
            </a:r>
            <a:endParaRPr lang="en-US" sz="1100" dirty="0"/>
          </a:p>
        </p:txBody>
      </p:sp>
      <p:sp>
        <p:nvSpPr>
          <p:cNvPr id="22" name="Text 20"/>
          <p:cNvSpPr/>
          <p:nvPr/>
        </p:nvSpPr>
        <p:spPr>
          <a:xfrm>
            <a:off x="4389120"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DATA ANALYSIS</a:t>
            </a:r>
            <a:endParaRPr lang="en-US" sz="900" dirty="0"/>
          </a:p>
        </p:txBody>
      </p:sp>
      <p:sp>
        <p:nvSpPr>
          <p:cNvPr id="23" name="Shape 21"/>
          <p:cNvSpPr/>
          <p:nvPr/>
        </p:nvSpPr>
        <p:spPr>
          <a:xfrm>
            <a:off x="4352544" y="1975104"/>
            <a:ext cx="1700784" cy="1078992"/>
          </a:xfrm>
          <a:prstGeom prst="rect">
            <a:avLst/>
          </a:prstGeom>
          <a:solidFill>
            <a:srgbClr val="FFFFFF"/>
          </a:solidFill>
          <a:ln w="9525">
            <a:solidFill>
              <a:srgbClr val="B0761A"/>
            </a:solidFill>
            <a:prstDash val="solid"/>
          </a:ln>
        </p:spPr>
      </p:sp>
      <p:sp>
        <p:nvSpPr>
          <p:cNvPr id="24" name="Text 22"/>
          <p:cNvSpPr/>
          <p:nvPr/>
        </p:nvSpPr>
        <p:spPr>
          <a:xfrm>
            <a:off x="4434840"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Resource and throughput study</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demand analysis</a:t>
            </a:r>
            <a:endParaRPr lang="en-US" sz="950" dirty="0"/>
          </a:p>
        </p:txBody>
      </p:sp>
      <p:sp>
        <p:nvSpPr>
          <p:cNvPr id="25" name="Shape 23"/>
          <p:cNvSpPr/>
          <p:nvPr/>
        </p:nvSpPr>
        <p:spPr>
          <a:xfrm>
            <a:off x="6053328" y="2514600"/>
            <a:ext cx="118872" cy="0"/>
          </a:xfrm>
          <a:prstGeom prst="line">
            <a:avLst/>
          </a:prstGeom>
          <a:noFill/>
          <a:ln w="15875">
            <a:solidFill>
              <a:srgbClr val="808080"/>
            </a:solidFill>
            <a:prstDash val="solid"/>
            <a:tailEnd type="triangle"/>
          </a:ln>
        </p:spPr>
      </p:sp>
      <p:sp>
        <p:nvSpPr>
          <p:cNvPr id="26" name="Shape 24"/>
          <p:cNvSpPr/>
          <p:nvPr/>
        </p:nvSpPr>
        <p:spPr>
          <a:xfrm>
            <a:off x="6172200" y="1371600"/>
            <a:ext cx="1700784" cy="603504"/>
          </a:xfrm>
          <a:prstGeom prst="rect">
            <a:avLst/>
          </a:prstGeom>
          <a:solidFill>
            <a:srgbClr val="6B4B8A"/>
          </a:solidFill>
          <a:ln w="9525">
            <a:solidFill>
              <a:srgbClr val="6B4B8A"/>
            </a:solidFill>
            <a:prstDash val="solid"/>
          </a:ln>
        </p:spPr>
      </p:sp>
      <p:sp>
        <p:nvSpPr>
          <p:cNvPr id="27" name="Shape 25"/>
          <p:cNvSpPr/>
          <p:nvPr/>
        </p:nvSpPr>
        <p:spPr>
          <a:xfrm>
            <a:off x="6885432" y="1417320"/>
            <a:ext cx="274320" cy="274320"/>
          </a:xfrm>
          <a:prstGeom prst="ellipse">
            <a:avLst/>
          </a:prstGeom>
          <a:solidFill>
            <a:srgbClr val="FFFFFF"/>
          </a:solidFill>
          <a:ln w="6350">
            <a:solidFill>
              <a:srgbClr val="FFFFFF"/>
            </a:solidFill>
            <a:prstDash val="solid"/>
          </a:ln>
        </p:spPr>
      </p:sp>
      <p:sp>
        <p:nvSpPr>
          <p:cNvPr id="28" name="Text 26"/>
          <p:cNvSpPr/>
          <p:nvPr/>
        </p:nvSpPr>
        <p:spPr>
          <a:xfrm>
            <a:off x="6885432" y="1417320"/>
            <a:ext cx="274320" cy="274320"/>
          </a:xfrm>
          <a:prstGeom prst="rect">
            <a:avLst/>
          </a:prstGeom>
          <a:noFill/>
          <a:ln/>
        </p:spPr>
        <p:txBody>
          <a:bodyPr wrap="square" lIns="0" tIns="0" rIns="0" bIns="0" rtlCol="0" anchor="ctr"/>
          <a:lstStyle/>
          <a:p>
            <a:pPr marL="0" indent="0" algn="ctr">
              <a:buNone/>
            </a:pPr>
            <a:r>
              <a:rPr lang="en-US" sz="1100" b="1" dirty="0">
                <a:solidFill>
                  <a:srgbClr val="6B4B8A"/>
                </a:solidFill>
                <a:latin typeface="Calibri" pitchFamily="34" charset="0"/>
                <a:ea typeface="Calibri" pitchFamily="34" charset="-122"/>
                <a:cs typeface="Calibri" pitchFamily="34" charset="-120"/>
              </a:rPr>
              <a:t>4</a:t>
            </a:r>
            <a:endParaRPr lang="en-US" sz="1100" dirty="0"/>
          </a:p>
        </p:txBody>
      </p:sp>
      <p:sp>
        <p:nvSpPr>
          <p:cNvPr id="29" name="Text 27"/>
          <p:cNvSpPr/>
          <p:nvPr/>
        </p:nvSpPr>
        <p:spPr>
          <a:xfrm>
            <a:off x="6208776"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OPTIMIZATION MODELING</a:t>
            </a:r>
            <a:endParaRPr lang="en-US" sz="900" dirty="0"/>
          </a:p>
        </p:txBody>
      </p:sp>
      <p:sp>
        <p:nvSpPr>
          <p:cNvPr id="30" name="Shape 28"/>
          <p:cNvSpPr/>
          <p:nvPr/>
        </p:nvSpPr>
        <p:spPr>
          <a:xfrm>
            <a:off x="6172200" y="1975104"/>
            <a:ext cx="1700784" cy="1078992"/>
          </a:xfrm>
          <a:prstGeom prst="rect">
            <a:avLst/>
          </a:prstGeom>
          <a:solidFill>
            <a:srgbClr val="FFFFFF"/>
          </a:solidFill>
          <a:ln w="9525">
            <a:solidFill>
              <a:srgbClr val="6B4B8A"/>
            </a:solidFill>
            <a:prstDash val="solid"/>
          </a:ln>
        </p:spPr>
      </p:sp>
      <p:sp>
        <p:nvSpPr>
          <p:cNvPr id="31" name="Text 29"/>
          <p:cNvSpPr/>
          <p:nvPr/>
        </p:nvSpPr>
        <p:spPr>
          <a:xfrm>
            <a:off x="6254496"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Derive the model parameters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Set objectives and constraints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Build LP and IP in PuLP</a:t>
            </a:r>
            <a:endParaRPr lang="en-US" sz="950" dirty="0"/>
          </a:p>
        </p:txBody>
      </p:sp>
      <p:sp>
        <p:nvSpPr>
          <p:cNvPr id="32" name="Shape 30"/>
          <p:cNvSpPr/>
          <p:nvPr/>
        </p:nvSpPr>
        <p:spPr>
          <a:xfrm>
            <a:off x="7872984" y="2514600"/>
            <a:ext cx="118872" cy="0"/>
          </a:xfrm>
          <a:prstGeom prst="line">
            <a:avLst/>
          </a:prstGeom>
          <a:noFill/>
          <a:ln w="15875">
            <a:solidFill>
              <a:srgbClr val="808080"/>
            </a:solidFill>
            <a:prstDash val="solid"/>
            <a:tailEnd type="triangle"/>
          </a:ln>
        </p:spPr>
      </p:sp>
      <p:sp>
        <p:nvSpPr>
          <p:cNvPr id="33" name="Shape 31"/>
          <p:cNvSpPr/>
          <p:nvPr/>
        </p:nvSpPr>
        <p:spPr>
          <a:xfrm>
            <a:off x="7991856" y="1371600"/>
            <a:ext cx="1700784" cy="603504"/>
          </a:xfrm>
          <a:prstGeom prst="rect">
            <a:avLst/>
          </a:prstGeom>
          <a:solidFill>
            <a:srgbClr val="A33131"/>
          </a:solidFill>
          <a:ln w="9525">
            <a:solidFill>
              <a:srgbClr val="A33131"/>
            </a:solidFill>
            <a:prstDash val="solid"/>
          </a:ln>
        </p:spPr>
      </p:sp>
      <p:sp>
        <p:nvSpPr>
          <p:cNvPr id="34" name="Shape 32"/>
          <p:cNvSpPr/>
          <p:nvPr/>
        </p:nvSpPr>
        <p:spPr>
          <a:xfrm>
            <a:off x="8705088" y="1417320"/>
            <a:ext cx="274320" cy="274320"/>
          </a:xfrm>
          <a:prstGeom prst="ellipse">
            <a:avLst/>
          </a:prstGeom>
          <a:solidFill>
            <a:srgbClr val="FFFFFF"/>
          </a:solidFill>
          <a:ln w="6350">
            <a:solidFill>
              <a:srgbClr val="FFFFFF"/>
            </a:solidFill>
            <a:prstDash val="solid"/>
          </a:ln>
        </p:spPr>
      </p:sp>
      <p:sp>
        <p:nvSpPr>
          <p:cNvPr id="35" name="Text 33"/>
          <p:cNvSpPr/>
          <p:nvPr/>
        </p:nvSpPr>
        <p:spPr>
          <a:xfrm>
            <a:off x="8705088" y="1417320"/>
            <a:ext cx="274320" cy="274320"/>
          </a:xfrm>
          <a:prstGeom prst="rect">
            <a:avLst/>
          </a:prstGeom>
          <a:noFill/>
          <a:ln/>
        </p:spPr>
        <p:txBody>
          <a:bodyPr wrap="square" lIns="0" tIns="0" rIns="0" bIns="0" rtlCol="0" anchor="ctr"/>
          <a:lstStyle/>
          <a:p>
            <a:pPr marL="0" indent="0" algn="ctr">
              <a:buNone/>
            </a:pPr>
            <a:r>
              <a:rPr lang="en-US" sz="1100" b="1" dirty="0">
                <a:solidFill>
                  <a:srgbClr val="A33131"/>
                </a:solidFill>
                <a:latin typeface="Calibri" pitchFamily="34" charset="0"/>
                <a:ea typeface="Calibri" pitchFamily="34" charset="-122"/>
                <a:cs typeface="Calibri" pitchFamily="34" charset="-120"/>
              </a:rPr>
              <a:t>5</a:t>
            </a:r>
            <a:endParaRPr lang="en-US" sz="1100" dirty="0"/>
          </a:p>
        </p:txBody>
      </p:sp>
      <p:sp>
        <p:nvSpPr>
          <p:cNvPr id="36" name="Text 34"/>
          <p:cNvSpPr/>
          <p:nvPr/>
        </p:nvSpPr>
        <p:spPr>
          <a:xfrm>
            <a:off x="8028432"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SOLVE &amp; VALIDATE</a:t>
            </a:r>
            <a:endParaRPr lang="en-US" sz="900" dirty="0"/>
          </a:p>
        </p:txBody>
      </p:sp>
      <p:sp>
        <p:nvSpPr>
          <p:cNvPr id="37" name="Shape 35"/>
          <p:cNvSpPr/>
          <p:nvPr/>
        </p:nvSpPr>
        <p:spPr>
          <a:xfrm>
            <a:off x="7991856" y="1975104"/>
            <a:ext cx="1700784" cy="1078992"/>
          </a:xfrm>
          <a:prstGeom prst="rect">
            <a:avLst/>
          </a:prstGeom>
          <a:solidFill>
            <a:srgbClr val="FFFFFF"/>
          </a:solidFill>
          <a:ln w="9525">
            <a:solidFill>
              <a:srgbClr val="A33131"/>
            </a:solidFill>
            <a:prstDash val="solid"/>
          </a:ln>
        </p:spPr>
      </p:sp>
      <p:sp>
        <p:nvSpPr>
          <p:cNvPr id="38" name="Text 36"/>
          <p:cNvSpPr/>
          <p:nvPr/>
        </p:nvSpPr>
        <p:spPr>
          <a:xfrm>
            <a:off x="8074152"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Solve using the CBC solver</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Check feasibility</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Compare with the baseline</a:t>
            </a:r>
            <a:endParaRPr lang="en-US" sz="950" dirty="0"/>
          </a:p>
        </p:txBody>
      </p:sp>
      <p:sp>
        <p:nvSpPr>
          <p:cNvPr id="39" name="Shape 37"/>
          <p:cNvSpPr/>
          <p:nvPr/>
        </p:nvSpPr>
        <p:spPr>
          <a:xfrm>
            <a:off x="9692640" y="2514600"/>
            <a:ext cx="118872" cy="0"/>
          </a:xfrm>
          <a:prstGeom prst="line">
            <a:avLst/>
          </a:prstGeom>
          <a:noFill/>
          <a:ln w="15875">
            <a:solidFill>
              <a:srgbClr val="808080"/>
            </a:solidFill>
            <a:prstDash val="solid"/>
            <a:tailEnd type="triangle"/>
          </a:ln>
        </p:spPr>
      </p:sp>
      <p:sp>
        <p:nvSpPr>
          <p:cNvPr id="40" name="Shape 38"/>
          <p:cNvSpPr/>
          <p:nvPr/>
        </p:nvSpPr>
        <p:spPr>
          <a:xfrm>
            <a:off x="9811512" y="1371600"/>
            <a:ext cx="1700784" cy="603504"/>
          </a:xfrm>
          <a:prstGeom prst="rect">
            <a:avLst/>
          </a:prstGeom>
          <a:solidFill>
            <a:srgbClr val="1E7F86"/>
          </a:solidFill>
          <a:ln w="9525">
            <a:solidFill>
              <a:srgbClr val="1E7F86"/>
            </a:solidFill>
            <a:prstDash val="solid"/>
          </a:ln>
        </p:spPr>
      </p:sp>
      <p:sp>
        <p:nvSpPr>
          <p:cNvPr id="41" name="Shape 39"/>
          <p:cNvSpPr/>
          <p:nvPr/>
        </p:nvSpPr>
        <p:spPr>
          <a:xfrm>
            <a:off x="10524744" y="1417320"/>
            <a:ext cx="274320" cy="274320"/>
          </a:xfrm>
          <a:prstGeom prst="ellipse">
            <a:avLst/>
          </a:prstGeom>
          <a:solidFill>
            <a:srgbClr val="FFFFFF"/>
          </a:solidFill>
          <a:ln w="6350">
            <a:solidFill>
              <a:srgbClr val="FFFFFF"/>
            </a:solidFill>
            <a:prstDash val="solid"/>
          </a:ln>
        </p:spPr>
      </p:sp>
      <p:sp>
        <p:nvSpPr>
          <p:cNvPr id="42" name="Text 40"/>
          <p:cNvSpPr/>
          <p:nvPr/>
        </p:nvSpPr>
        <p:spPr>
          <a:xfrm>
            <a:off x="10524744" y="1417320"/>
            <a:ext cx="274320" cy="274320"/>
          </a:xfrm>
          <a:prstGeom prst="rect">
            <a:avLst/>
          </a:prstGeom>
          <a:noFill/>
          <a:ln/>
        </p:spPr>
        <p:txBody>
          <a:bodyPr wrap="square" lIns="0" tIns="0" rIns="0" bIns="0" rtlCol="0" anchor="ctr"/>
          <a:lstStyle/>
          <a:p>
            <a:pPr marL="0" indent="0" algn="ctr">
              <a:buNone/>
            </a:pPr>
            <a:r>
              <a:rPr lang="en-US" sz="1100" b="1" dirty="0">
                <a:solidFill>
                  <a:srgbClr val="1E7F86"/>
                </a:solidFill>
                <a:latin typeface="Calibri" pitchFamily="34" charset="0"/>
                <a:ea typeface="Calibri" pitchFamily="34" charset="-122"/>
                <a:cs typeface="Calibri" pitchFamily="34" charset="-120"/>
              </a:rPr>
              <a:t>6</a:t>
            </a:r>
            <a:endParaRPr lang="en-US" sz="1100" dirty="0"/>
          </a:p>
        </p:txBody>
      </p:sp>
      <p:sp>
        <p:nvSpPr>
          <p:cNvPr id="43" name="Text 41"/>
          <p:cNvSpPr/>
          <p:nvPr/>
        </p:nvSpPr>
        <p:spPr>
          <a:xfrm>
            <a:off x="9848088" y="1700784"/>
            <a:ext cx="1627632"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INTERFACE &amp; RESULTS</a:t>
            </a:r>
            <a:endParaRPr lang="en-US" sz="900" dirty="0"/>
          </a:p>
        </p:txBody>
      </p:sp>
      <p:sp>
        <p:nvSpPr>
          <p:cNvPr id="44" name="Shape 42"/>
          <p:cNvSpPr/>
          <p:nvPr/>
        </p:nvSpPr>
        <p:spPr>
          <a:xfrm>
            <a:off x="9811512" y="1975104"/>
            <a:ext cx="1700784" cy="1078992"/>
          </a:xfrm>
          <a:prstGeom prst="rect">
            <a:avLst/>
          </a:prstGeom>
          <a:solidFill>
            <a:srgbClr val="FFFFFF"/>
          </a:solidFill>
          <a:ln w="9525">
            <a:solidFill>
              <a:srgbClr val="1E7F86"/>
            </a:solidFill>
            <a:prstDash val="solid"/>
          </a:ln>
        </p:spPr>
      </p:sp>
      <p:sp>
        <p:nvSpPr>
          <p:cNvPr id="45" name="Text 43"/>
          <p:cNvSpPr/>
          <p:nvPr/>
        </p:nvSpPr>
        <p:spPr>
          <a:xfrm>
            <a:off x="9893808" y="2048256"/>
            <a:ext cx="1536192" cy="932688"/>
          </a:xfrm>
          <a:prstGeom prst="rect">
            <a:avLst/>
          </a:prstGeom>
          <a:noFill/>
          <a:ln/>
        </p:spPr>
        <p:txBody>
          <a:bodyPr wrap="square" lIns="0" tIns="0" rIns="0" bIns="0" rtlCol="0" anchor="t"/>
          <a:lstStyle/>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Web interface (FastAPI + React)</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Charts and result tables</a:t>
            </a:r>
            <a:endParaRPr lang="en-US" sz="950" dirty="0"/>
          </a:p>
          <a:p>
            <a:pPr marL="152400" indent="-152400">
              <a:lnSpc>
                <a:spcPts val="1200"/>
              </a:lnSpc>
              <a:spcAft>
                <a:spcPts val="600"/>
              </a:spcAft>
              <a:buSzPct val="100000"/>
              <a:buChar char="•"/>
            </a:pPr>
            <a:r>
              <a:rPr lang="en-US" sz="950" dirty="0">
                <a:solidFill>
                  <a:srgbClr val="000000"/>
                </a:solidFill>
                <a:latin typeface="Calibri" pitchFamily="34" charset="0"/>
                <a:ea typeface="Calibri" pitchFamily="34" charset="-122"/>
                <a:cs typeface="Calibri" pitchFamily="34" charset="-120"/>
              </a:rPr>
              <a:t>Scenario inputs and reports</a:t>
            </a:r>
            <a:endParaRPr lang="en-US" sz="950" dirty="0"/>
          </a:p>
        </p:txBody>
      </p:sp>
      <p:sp>
        <p:nvSpPr>
          <p:cNvPr id="46" name="Shape 44"/>
          <p:cNvSpPr/>
          <p:nvPr/>
        </p:nvSpPr>
        <p:spPr>
          <a:xfrm>
            <a:off x="713232" y="3364992"/>
            <a:ext cx="4297680" cy="420624"/>
          </a:xfrm>
          <a:prstGeom prst="rect">
            <a:avLst/>
          </a:prstGeom>
          <a:solidFill>
            <a:srgbClr val="30538A"/>
          </a:solidFill>
          <a:ln w="9525">
            <a:solidFill>
              <a:srgbClr val="30538A"/>
            </a:solidFill>
            <a:prstDash val="solid"/>
          </a:ln>
        </p:spPr>
      </p:sp>
      <p:sp>
        <p:nvSpPr>
          <p:cNvPr id="47" name="Text 45"/>
          <p:cNvSpPr/>
          <p:nvPr/>
        </p:nvSpPr>
        <p:spPr>
          <a:xfrm>
            <a:off x="768096" y="3364992"/>
            <a:ext cx="418795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1:  RESOURCE ALLOCATION  (LP)</a:t>
            </a:r>
            <a:endParaRPr lang="en-US" sz="1100" dirty="0"/>
          </a:p>
        </p:txBody>
      </p:sp>
      <p:sp>
        <p:nvSpPr>
          <p:cNvPr id="48" name="Shape 46"/>
          <p:cNvSpPr/>
          <p:nvPr/>
        </p:nvSpPr>
        <p:spPr>
          <a:xfrm>
            <a:off x="713232" y="3781044"/>
            <a:ext cx="4297680" cy="2103120"/>
          </a:xfrm>
          <a:prstGeom prst="rect">
            <a:avLst/>
          </a:prstGeom>
          <a:solidFill>
            <a:srgbClr val="EEF2F8"/>
          </a:solidFill>
          <a:ln w="9525">
            <a:solidFill>
              <a:srgbClr val="30538A"/>
            </a:solidFill>
            <a:prstDash val="solid"/>
          </a:ln>
        </p:spPr>
      </p:sp>
      <p:sp>
        <p:nvSpPr>
          <p:cNvPr id="49" name="Text 47"/>
          <p:cNvSpPr/>
          <p:nvPr/>
        </p:nvSpPr>
        <p:spPr>
          <a:xfrm>
            <a:off x="832104" y="3895344"/>
            <a:ext cx="1984248" cy="1874520"/>
          </a:xfrm>
          <a:prstGeom prst="rect">
            <a:avLst/>
          </a:prstGeom>
          <a:noFill/>
          <a:ln/>
        </p:spPr>
        <p:txBody>
          <a:bodyPr wrap="square" lIns="0" tIns="0" rIns="0" bIns="0" rtlCol="0" anchor="t"/>
          <a:lstStyle/>
          <a:p>
            <a:pPr marL="0" indent="0">
              <a:lnSpc>
                <a:spcPts val="1400"/>
              </a:lnSpc>
              <a:buNone/>
            </a:pPr>
            <a:r>
              <a:rPr lang="en-US" sz="1050" b="1" dirty="0">
                <a:solidFill>
                  <a:srgbClr val="30538A"/>
                </a:solidFill>
                <a:latin typeface="Calibri" pitchFamily="34" charset="0"/>
                <a:ea typeface="Calibri" pitchFamily="34" charset="-122"/>
                <a:cs typeface="Calibri" pitchFamily="34" charset="-120"/>
              </a:rPr>
              <a:t>Objective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Maximize the total throughput</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across the four terminals</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 </a:t>
            </a:r>
            <a:endParaRPr lang="en-US" sz="1050" dirty="0"/>
          </a:p>
          <a:p>
            <a:pPr marL="0" indent="0">
              <a:lnSpc>
                <a:spcPts val="1400"/>
              </a:lnSpc>
              <a:buNone/>
            </a:pPr>
            <a:r>
              <a:rPr lang="en-US" sz="1050" b="1" dirty="0">
                <a:solidFill>
                  <a:srgbClr val="30538A"/>
                </a:solidFill>
                <a:latin typeface="Calibri" pitchFamily="34" charset="0"/>
                <a:ea typeface="Calibri" pitchFamily="34" charset="-122"/>
                <a:cs typeface="Calibri" pitchFamily="34" charset="-120"/>
              </a:rPr>
              <a:t>Decision Variables</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wₜ , eₜ = workers and equipment</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assigned to terminal t</a:t>
            </a:r>
            <a:endParaRPr lang="en-US" sz="1050" dirty="0"/>
          </a:p>
        </p:txBody>
      </p:sp>
      <p:sp>
        <p:nvSpPr>
          <p:cNvPr id="50" name="Text 48"/>
          <p:cNvSpPr/>
          <p:nvPr/>
        </p:nvSpPr>
        <p:spPr>
          <a:xfrm>
            <a:off x="2907792" y="3895344"/>
            <a:ext cx="1984248" cy="219456"/>
          </a:xfrm>
          <a:prstGeom prst="rect">
            <a:avLst/>
          </a:prstGeom>
          <a:noFill/>
          <a:ln/>
        </p:spPr>
        <p:txBody>
          <a:bodyPr wrap="square" lIns="0" tIns="0" rIns="0" bIns="0" rtlCol="0" anchor="ctr"/>
          <a:lstStyle/>
          <a:p>
            <a:pPr marL="0" indent="0">
              <a:buNone/>
            </a:pPr>
            <a:r>
              <a:rPr lang="en-US" sz="1050" b="1" dirty="0">
                <a:solidFill>
                  <a:srgbClr val="30538A"/>
                </a:solidFill>
                <a:latin typeface="Calibri" pitchFamily="34" charset="0"/>
                <a:ea typeface="Calibri" pitchFamily="34" charset="-122"/>
                <a:cs typeface="Calibri" pitchFamily="34" charset="-120"/>
              </a:rPr>
              <a:t>Key Inputs</a:t>
            </a:r>
            <a:endParaRPr lang="en-US" sz="1050" dirty="0"/>
          </a:p>
        </p:txBody>
      </p:sp>
      <p:sp>
        <p:nvSpPr>
          <p:cNvPr id="51" name="Text 49"/>
          <p:cNvSpPr/>
          <p:nvPr/>
        </p:nvSpPr>
        <p:spPr>
          <a:xfrm>
            <a:off x="2907792" y="4151376"/>
            <a:ext cx="1984248" cy="1600200"/>
          </a:xfrm>
          <a:prstGeom prst="rect">
            <a:avLst/>
          </a:prstGeom>
          <a:noFill/>
          <a:ln/>
        </p:spPr>
        <p:txBody>
          <a:bodyPr wrap="square" lIns="0" tIns="0" rIns="0" bIns="0" rtlCol="0" anchor="t"/>
          <a:lstStyle/>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Workforce assigned</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Equipment used</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Throughput rate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Demand forecast</a:t>
            </a:r>
            <a:endParaRPr lang="en-US" sz="1050" dirty="0"/>
          </a:p>
        </p:txBody>
      </p:sp>
      <p:sp>
        <p:nvSpPr>
          <p:cNvPr id="52" name="Shape 50"/>
          <p:cNvSpPr/>
          <p:nvPr/>
        </p:nvSpPr>
        <p:spPr>
          <a:xfrm>
            <a:off x="7178040" y="3364992"/>
            <a:ext cx="4297680" cy="420624"/>
          </a:xfrm>
          <a:prstGeom prst="rect">
            <a:avLst/>
          </a:prstGeom>
          <a:solidFill>
            <a:srgbClr val="2E7D4F"/>
          </a:solidFill>
          <a:ln w="9525">
            <a:solidFill>
              <a:srgbClr val="2E7D4F"/>
            </a:solidFill>
            <a:prstDash val="solid"/>
          </a:ln>
        </p:spPr>
      </p:sp>
      <p:sp>
        <p:nvSpPr>
          <p:cNvPr id="53" name="Text 51"/>
          <p:cNvSpPr/>
          <p:nvPr/>
        </p:nvSpPr>
        <p:spPr>
          <a:xfrm>
            <a:off x="7232904" y="3364992"/>
            <a:ext cx="4187952" cy="42062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MODEL 2:  SHIPMENT SELECTION  (IP)</a:t>
            </a:r>
            <a:endParaRPr lang="en-US" sz="1100" dirty="0"/>
          </a:p>
        </p:txBody>
      </p:sp>
      <p:sp>
        <p:nvSpPr>
          <p:cNvPr id="54" name="Shape 52"/>
          <p:cNvSpPr/>
          <p:nvPr/>
        </p:nvSpPr>
        <p:spPr>
          <a:xfrm>
            <a:off x="7178040" y="3785616"/>
            <a:ext cx="4297680" cy="2103120"/>
          </a:xfrm>
          <a:prstGeom prst="rect">
            <a:avLst/>
          </a:prstGeom>
          <a:solidFill>
            <a:srgbClr val="EDF5EF"/>
          </a:solidFill>
          <a:ln w="9525">
            <a:solidFill>
              <a:srgbClr val="2E7D4F"/>
            </a:solidFill>
            <a:prstDash val="solid"/>
          </a:ln>
        </p:spPr>
      </p:sp>
      <p:sp>
        <p:nvSpPr>
          <p:cNvPr id="55" name="Text 53"/>
          <p:cNvSpPr/>
          <p:nvPr/>
        </p:nvSpPr>
        <p:spPr>
          <a:xfrm>
            <a:off x="7296912" y="3895344"/>
            <a:ext cx="1984248" cy="1874520"/>
          </a:xfrm>
          <a:prstGeom prst="rect">
            <a:avLst/>
          </a:prstGeom>
          <a:noFill/>
          <a:ln/>
        </p:spPr>
        <p:txBody>
          <a:bodyPr wrap="square" lIns="0" tIns="0" rIns="0" bIns="0" rtlCol="0" anchor="t"/>
          <a:lstStyle/>
          <a:p>
            <a:pPr marL="0" indent="0">
              <a:lnSpc>
                <a:spcPts val="1400"/>
              </a:lnSpc>
              <a:buNone/>
            </a:pPr>
            <a:r>
              <a:rPr lang="en-US" sz="1050" b="1" dirty="0">
                <a:solidFill>
                  <a:srgbClr val="2E7D4F"/>
                </a:solidFill>
                <a:latin typeface="Calibri" pitchFamily="34" charset="0"/>
                <a:ea typeface="Calibri" pitchFamily="34" charset="-122"/>
                <a:cs typeface="Calibri" pitchFamily="34" charset="-120"/>
              </a:rPr>
              <a:t>Objective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Maximize the total priority value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of the shipments processed</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 </a:t>
            </a:r>
            <a:endParaRPr lang="en-US" sz="1050" dirty="0"/>
          </a:p>
          <a:p>
            <a:pPr marL="0" indent="0">
              <a:lnSpc>
                <a:spcPts val="1400"/>
              </a:lnSpc>
              <a:buNone/>
            </a:pPr>
            <a:r>
              <a:rPr lang="en-US" sz="1050" b="1" dirty="0">
                <a:solidFill>
                  <a:srgbClr val="2E7D4F"/>
                </a:solidFill>
                <a:latin typeface="Calibri" pitchFamily="34" charset="0"/>
                <a:ea typeface="Calibri" pitchFamily="34" charset="-122"/>
                <a:cs typeface="Calibri" pitchFamily="34" charset="-120"/>
              </a:rPr>
              <a:t>Decision Variable</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xᵢ = 1 if shipment i is processed</a:t>
            </a:r>
            <a:endParaRPr lang="en-US" sz="1050" dirty="0"/>
          </a:p>
          <a:p>
            <a:pPr marL="0" indent="0">
              <a:lnSpc>
                <a:spcPts val="1400"/>
              </a:lnSpc>
              <a:buNone/>
            </a:pPr>
            <a:r>
              <a:rPr lang="en-US" sz="1050" dirty="0">
                <a:solidFill>
                  <a:srgbClr val="000000"/>
                </a:solidFill>
                <a:latin typeface="Calibri" pitchFamily="34" charset="0"/>
                <a:ea typeface="Calibri" pitchFamily="34" charset="-122"/>
                <a:cs typeface="Calibri" pitchFamily="34" charset="-120"/>
              </a:rPr>
              <a:t>in this window, 0 otherwise</a:t>
            </a:r>
            <a:endParaRPr lang="en-US" sz="1050" dirty="0"/>
          </a:p>
        </p:txBody>
      </p:sp>
      <p:sp>
        <p:nvSpPr>
          <p:cNvPr id="56" name="Text 54"/>
          <p:cNvSpPr/>
          <p:nvPr/>
        </p:nvSpPr>
        <p:spPr>
          <a:xfrm>
            <a:off x="9372600" y="3895344"/>
            <a:ext cx="1984248" cy="219456"/>
          </a:xfrm>
          <a:prstGeom prst="rect">
            <a:avLst/>
          </a:prstGeom>
          <a:noFill/>
          <a:ln/>
        </p:spPr>
        <p:txBody>
          <a:bodyPr wrap="square" lIns="0" tIns="0" rIns="0" bIns="0" rtlCol="0" anchor="ctr"/>
          <a:lstStyle/>
          <a:p>
            <a:pPr marL="0" indent="0">
              <a:buNone/>
            </a:pPr>
            <a:r>
              <a:rPr lang="en-US" sz="1050" b="1" dirty="0">
                <a:solidFill>
                  <a:srgbClr val="2E7D4F"/>
                </a:solidFill>
                <a:latin typeface="Calibri" pitchFamily="34" charset="0"/>
                <a:ea typeface="Calibri" pitchFamily="34" charset="-122"/>
                <a:cs typeface="Calibri" pitchFamily="34" charset="-120"/>
              </a:rPr>
              <a:t>Key Inputs</a:t>
            </a:r>
            <a:endParaRPr lang="en-US" sz="1050" dirty="0"/>
          </a:p>
        </p:txBody>
      </p:sp>
      <p:sp>
        <p:nvSpPr>
          <p:cNvPr id="57" name="Text 55"/>
          <p:cNvSpPr/>
          <p:nvPr/>
        </p:nvSpPr>
        <p:spPr>
          <a:xfrm>
            <a:off x="9372600" y="4151376"/>
            <a:ext cx="1984248" cy="1600200"/>
          </a:xfrm>
          <a:prstGeom prst="rect">
            <a:avLst/>
          </a:prstGeom>
          <a:noFill/>
          <a:ln/>
        </p:spPr>
        <p:txBody>
          <a:bodyPr wrap="square" lIns="0" tIns="0" rIns="0" bIns="0" rtlCol="0" anchor="t"/>
          <a:lstStyle/>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Cargo volume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Handling time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Shipment priority</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Waiting time</a:t>
            </a:r>
            <a:endParaRPr lang="en-US" sz="1050" dirty="0"/>
          </a:p>
          <a:p>
            <a:pPr marL="152400" indent="-152400">
              <a:lnSpc>
                <a:spcPts val="1400"/>
              </a:lnSpc>
              <a:spcAft>
                <a:spcPts val="600"/>
              </a:spcAft>
              <a:buSzPct val="100000"/>
              <a:buChar char="•"/>
            </a:pPr>
            <a:r>
              <a:rPr lang="en-US" sz="1050" dirty="0">
                <a:solidFill>
                  <a:srgbClr val="000000"/>
                </a:solidFill>
                <a:latin typeface="Calibri" pitchFamily="34" charset="0"/>
                <a:ea typeface="Calibri" pitchFamily="34" charset="-122"/>
                <a:cs typeface="Calibri" pitchFamily="34" charset="-120"/>
              </a:rPr>
              <a:t>Queue length</a:t>
            </a:r>
            <a:endParaRPr lang="en-US" sz="1050" dirty="0"/>
          </a:p>
        </p:txBody>
      </p:sp>
      <p:sp>
        <p:nvSpPr>
          <p:cNvPr id="59" name="Text 57"/>
          <p:cNvSpPr/>
          <p:nvPr/>
        </p:nvSpPr>
        <p:spPr>
          <a:xfrm>
            <a:off x="5376672" y="3931920"/>
            <a:ext cx="969264" cy="969264"/>
          </a:xfrm>
          <a:prstGeom prst="rect">
            <a:avLst/>
          </a:prstGeom>
          <a:noFill/>
          <a:ln/>
        </p:spPr>
        <p:txBody>
          <a:bodyPr wrap="square" lIns="0" tIns="0" rIns="0" bIns="0" rtlCol="0" anchor="ctr"/>
          <a:lstStyle/>
          <a:p>
            <a:pPr marL="0" indent="0" algn="ctr">
              <a:buNone/>
            </a:pPr>
            <a:endParaRPr lang="en-US" sz="2400" dirty="0"/>
          </a:p>
        </p:txBody>
      </p:sp>
      <p:sp>
        <p:nvSpPr>
          <p:cNvPr id="62" name="Text 60"/>
          <p:cNvSpPr/>
          <p:nvPr/>
        </p:nvSpPr>
        <p:spPr>
          <a:xfrm>
            <a:off x="5102352" y="5010912"/>
            <a:ext cx="1517904" cy="914400"/>
          </a:xfrm>
          <a:prstGeom prst="rect">
            <a:avLst/>
          </a:prstGeom>
          <a:noFill/>
          <a:ln/>
        </p:spPr>
        <p:txBody>
          <a:bodyPr wrap="square" lIns="0" tIns="0" rIns="0" bIns="0" rtlCol="0" anchor="t"/>
          <a:lstStyle/>
          <a:p>
            <a:pPr marL="0" indent="0" algn="ctr">
              <a:lnSpc>
                <a:spcPts val="1100"/>
              </a:lnSpc>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7</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Techniques &amp; Tools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3769487238"/>
              </p:ext>
            </p:extLst>
          </p:nvPr>
        </p:nvGraphicFramePr>
        <p:xfrm>
          <a:off x="1737360" y="1554480"/>
          <a:ext cx="8686800" cy="3785616"/>
        </p:xfrm>
        <a:graphic>
          <a:graphicData uri="http://schemas.openxmlformats.org/drawingml/2006/table">
            <a:tbl>
              <a:tblPr/>
              <a:tblGrid>
                <a:gridCol w="27432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420624">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Tool / Technology</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Purpose</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Python</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Overall implementation</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Pandas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Data cleaning, processing and statistics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NumPy</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Numerical calculations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PuLP</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Formulation of the optimization models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CBC Solver</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Solving the Linear and Integer Programming models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Matplotlib / Plotly</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Statistical and optimization-result visualization</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Jupyter Notebook</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Exploratory data analysis</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0624">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FastAPI + React</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0" indent="0">
                        <a:buNone/>
                      </a:pPr>
                      <a:r>
                        <a:rPr lang="en-US" sz="1350" dirty="0">
                          <a:solidFill>
                            <a:srgbClr val="000000"/>
                          </a:solidFill>
                          <a:latin typeface="Calibri" pitchFamily="34" charset="0"/>
                          <a:ea typeface="Calibri" pitchFamily="34" charset="-122"/>
                          <a:cs typeface="Calibri" pitchFamily="34" charset="-120"/>
                        </a:rPr>
                        <a:t>Interactive interface</a:t>
                      </a:r>
                      <a:endParaRPr lang="en-US" sz="1350" dirty="0">
                        <a:latin typeface="Calibri" charset="0"/>
                        <a:ea typeface="Calibri" charset="0"/>
                        <a:cs typeface="Calibri" charset="0"/>
                      </a:endParaRPr>
                    </a:p>
                  </a:txBody>
                  <a:tcPr marL="101600" marR="101600" marT="50800" marB="508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2356" y="456337"/>
            <a:ext cx="11274552" cy="6035040"/>
          </a:xfrm>
          <a:prstGeom prst="rect">
            <a:avLst/>
          </a:prstGeom>
          <a:solidFill>
            <a:srgbClr val="FFFFFF"/>
          </a:solidFill>
          <a:ln w="9525">
            <a:solidFill>
              <a:srgbClr val="000000"/>
            </a:solidFill>
            <a:prstDash val="solid"/>
          </a:ln>
        </p:spPr>
        <p:txBody>
          <a:bodyPr/>
          <a:lstStyle/>
          <a:p>
            <a:endParaRPr lang="en-IN"/>
          </a:p>
        </p:txBody>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8</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Optimization Model 1</a:t>
            </a:r>
            <a:endParaRPr lang="en-US" sz="3200" dirty="0"/>
          </a:p>
        </p:txBody>
      </p:sp>
      <p:sp>
        <p:nvSpPr>
          <p:cNvPr id="5" name="Text 3"/>
          <p:cNvSpPr/>
          <p:nvPr/>
        </p:nvSpPr>
        <p:spPr>
          <a:xfrm>
            <a:off x="640080" y="1115568"/>
            <a:ext cx="10908792" cy="274320"/>
          </a:xfrm>
          <a:prstGeom prst="rect">
            <a:avLst/>
          </a:prstGeom>
          <a:noFill/>
          <a:ln/>
        </p:spPr>
        <p:txBody>
          <a:bodyPr wrap="square" lIns="0" tIns="0" rIns="0" bIns="0" rtlCol="0" anchor="ctr"/>
          <a:lstStyle/>
          <a:p>
            <a:pPr marL="0" indent="0" algn="ctr">
              <a:buNone/>
            </a:pPr>
            <a:r>
              <a:rPr lang="en-US" sz="1500" b="1" dirty="0">
                <a:solidFill>
                  <a:srgbClr val="000000"/>
                </a:solidFill>
                <a:latin typeface="Calibri" pitchFamily="34" charset="0"/>
                <a:ea typeface="Calibri" pitchFamily="34" charset="-122"/>
                <a:cs typeface="Calibri" pitchFamily="34" charset="-120"/>
              </a:rPr>
              <a:t>Resource Allocation  —  Linear Programming</a:t>
            </a:r>
            <a:endParaRPr lang="en-US" sz="1500" dirty="0"/>
          </a:p>
        </p:txBody>
      </p:sp>
      <p:sp>
        <p:nvSpPr>
          <p:cNvPr id="6" name="Text 4"/>
          <p:cNvSpPr/>
          <p:nvPr/>
        </p:nvSpPr>
        <p:spPr>
          <a:xfrm>
            <a:off x="713232" y="1408176"/>
            <a:ext cx="10762488" cy="438912"/>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Calibri" pitchFamily="34" charset="0"/>
                <a:ea typeface="Calibri" pitchFamily="34" charset="-122"/>
                <a:cs typeface="Calibri" pitchFamily="34" charset="-120"/>
              </a:rPr>
              <a:t>Determine how many workers and how much equipment each terminal should get, so that total throughput is maximised (or operating cost minimised) while demand is met.</a:t>
            </a:r>
            <a:endParaRPr lang="en-US" sz="1400" dirty="0"/>
          </a:p>
        </p:txBody>
      </p:sp>
      <p:sp>
        <p:nvSpPr>
          <p:cNvPr id="7" name="Text 5"/>
          <p:cNvSpPr/>
          <p:nvPr/>
        </p:nvSpPr>
        <p:spPr>
          <a:xfrm>
            <a:off x="713232" y="1901952"/>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Decision Variables</a:t>
            </a:r>
            <a:endParaRPr lang="en-US" sz="1500" dirty="0"/>
          </a:p>
        </p:txBody>
      </p:sp>
      <p:sp>
        <p:nvSpPr>
          <p:cNvPr id="8" name="Shape 6"/>
          <p:cNvSpPr/>
          <p:nvPr/>
        </p:nvSpPr>
        <p:spPr>
          <a:xfrm>
            <a:off x="713232" y="2185416"/>
            <a:ext cx="10762488" cy="0"/>
          </a:xfrm>
          <a:prstGeom prst="line">
            <a:avLst/>
          </a:prstGeom>
          <a:noFill/>
          <a:ln w="12700">
            <a:solidFill>
              <a:srgbClr val="000000"/>
            </a:solidFill>
            <a:prstDash val="solid"/>
          </a:ln>
        </p:spPr>
      </p:sp>
      <p:sp>
        <p:nvSpPr>
          <p:cNvPr id="9" name="Text 7"/>
          <p:cNvSpPr/>
          <p:nvPr/>
        </p:nvSpPr>
        <p:spPr>
          <a:xfrm>
            <a:off x="960120" y="2249424"/>
            <a:ext cx="548640" cy="731520"/>
          </a:xfrm>
          <a:prstGeom prst="rect">
            <a:avLst/>
          </a:prstGeom>
          <a:noFill/>
          <a:ln/>
        </p:spPr>
        <p:txBody>
          <a:bodyPr wrap="square" lIns="0" tIns="0" rIns="0" bIns="0" rtlCol="0" anchor="t"/>
          <a:lstStyle/>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wₜ</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eₜ</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sₜ</a:t>
            </a:r>
            <a:endParaRPr lang="en-US" sz="1300" dirty="0"/>
          </a:p>
        </p:txBody>
      </p:sp>
      <p:sp>
        <p:nvSpPr>
          <p:cNvPr id="10" name="Text 8"/>
          <p:cNvSpPr/>
          <p:nvPr/>
        </p:nvSpPr>
        <p:spPr>
          <a:xfrm>
            <a:off x="1600200" y="2249424"/>
            <a:ext cx="5394960" cy="731520"/>
          </a:xfrm>
          <a:prstGeom prst="rect">
            <a:avLst/>
          </a:prstGeom>
          <a:noFill/>
          <a:ln/>
        </p:spPr>
        <p:txBody>
          <a:bodyPr wrap="square" lIns="0" tIns="0" rIns="0" bIns="0" rtlCol="0" anchor="t"/>
          <a:lstStyle/>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number of workers assigned to terminal t   (continuous)</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number of equipment units assigned to terminal t   (whole machines, integer)</a:t>
            </a:r>
            <a:endParaRPr lang="en-US" sz="1300" dirty="0"/>
          </a:p>
          <a:p>
            <a:pPr marL="0" indent="0">
              <a:lnSpc>
                <a:spcPts val="1600"/>
              </a:lnSpc>
              <a:buNone/>
            </a:pPr>
            <a:r>
              <a:rPr lang="en-US" sz="1300" dirty="0">
                <a:solidFill>
                  <a:srgbClr val="000000"/>
                </a:solidFill>
                <a:latin typeface="Calibri" pitchFamily="34" charset="0"/>
                <a:ea typeface="Calibri" pitchFamily="34" charset="-122"/>
                <a:cs typeface="Calibri" pitchFamily="34" charset="-120"/>
              </a:rPr>
              <a:t>demand at terminal t that is left unmet, tons/h   (continuous)</a:t>
            </a:r>
            <a:endParaRPr lang="en-US" sz="1300" dirty="0"/>
          </a:p>
        </p:txBody>
      </p:sp>
      <p:sp>
        <p:nvSpPr>
          <p:cNvPr id="11" name="Text 9"/>
          <p:cNvSpPr/>
          <p:nvPr/>
        </p:nvSpPr>
        <p:spPr>
          <a:xfrm>
            <a:off x="7086600" y="2267712"/>
            <a:ext cx="4389120" cy="274320"/>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for every terminal  t = T1, T2, T3, T4        (wₜ , sₜ ≥ 0 continuous;  eₜ ≥ 0 integer)</a:t>
            </a:r>
            <a:endParaRPr lang="en-US" sz="1100" dirty="0"/>
          </a:p>
        </p:txBody>
      </p:sp>
      <p:sp>
        <p:nvSpPr>
          <p:cNvPr id="12" name="Text 10"/>
          <p:cNvSpPr/>
          <p:nvPr/>
        </p:nvSpPr>
        <p:spPr>
          <a:xfrm>
            <a:off x="713232" y="2980944"/>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Objective Function</a:t>
            </a:r>
            <a:endParaRPr lang="en-US" sz="1500" dirty="0"/>
          </a:p>
        </p:txBody>
      </p:sp>
      <p:sp>
        <p:nvSpPr>
          <p:cNvPr id="13" name="Shape 11"/>
          <p:cNvSpPr/>
          <p:nvPr/>
        </p:nvSpPr>
        <p:spPr>
          <a:xfrm>
            <a:off x="713232" y="3264408"/>
            <a:ext cx="10762488" cy="0"/>
          </a:xfrm>
          <a:prstGeom prst="line">
            <a:avLst/>
          </a:prstGeom>
          <a:noFill/>
          <a:ln w="12700">
            <a:solidFill>
              <a:srgbClr val="000000"/>
            </a:solidFill>
            <a:prstDash val="solid"/>
          </a:ln>
        </p:spPr>
      </p:sp>
      <p:sp>
        <p:nvSpPr>
          <p:cNvPr id="14" name="Shape 12"/>
          <p:cNvSpPr/>
          <p:nvPr/>
        </p:nvSpPr>
        <p:spPr>
          <a:xfrm>
            <a:off x="850392" y="3383280"/>
            <a:ext cx="5715000" cy="658368"/>
          </a:xfrm>
          <a:prstGeom prst="rect">
            <a:avLst/>
          </a:prstGeom>
          <a:solidFill>
            <a:srgbClr val="FFFFFF"/>
          </a:solidFill>
          <a:ln w="9525">
            <a:solidFill>
              <a:srgbClr val="000000"/>
            </a:solidFill>
            <a:prstDash val="solid"/>
          </a:ln>
        </p:spPr>
      </p:sp>
      <p:sp>
        <p:nvSpPr>
          <p:cNvPr id="15" name="Text 13"/>
          <p:cNvSpPr/>
          <p:nvPr/>
        </p:nvSpPr>
        <p:spPr>
          <a:xfrm>
            <a:off x="941832" y="3383280"/>
            <a:ext cx="5577840" cy="65836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max  Z  =  Σₜ ( αₜ wₜ  +  βₜ eₜ )  −  M Σₜ sₜ</a:t>
            </a:r>
            <a:endParaRPr lang="en-US" sz="1550" dirty="0"/>
          </a:p>
          <a:p>
            <a:pPr marL="0" indent="0">
              <a:buNone/>
            </a:pPr>
            <a:r>
              <a:rPr lang="en-US" sz="1400" dirty="0">
                <a:solidFill>
                  <a:srgbClr val="000000"/>
                </a:solidFill>
                <a:latin typeface="Calibri" pitchFamily="34" charset="0"/>
                <a:ea typeface="Calibri" pitchFamily="34" charset="-122"/>
                <a:cs typeface="Calibri" pitchFamily="34" charset="-120"/>
              </a:rPr>
              <a:t>min  Z  =  Σₜ ( cʷₜ wₜ  +  cᵉₜ eₜ )  +  M Σₜ sₜ</a:t>
            </a:r>
            <a:endParaRPr lang="en-US" sz="1550" dirty="0"/>
          </a:p>
        </p:txBody>
      </p:sp>
      <p:sp>
        <p:nvSpPr>
          <p:cNvPr id="16" name="Text 14"/>
          <p:cNvSpPr/>
          <p:nvPr/>
        </p:nvSpPr>
        <p:spPr>
          <a:xfrm>
            <a:off x="941832" y="4078224"/>
            <a:ext cx="5669280" cy="228600"/>
          </a:xfrm>
          <a:prstGeom prst="rect">
            <a:avLst/>
          </a:prstGeom>
          <a:noFill/>
          <a:ln/>
        </p:spPr>
        <p:txBody>
          <a:bodyPr wrap="square" lIns="0" tIns="0" rIns="0" bIns="0" rtlCol="0" anchor="ctr"/>
          <a:lstStyle/>
          <a:p>
            <a:pPr marL="0" indent="0">
              <a:buNone/>
            </a:pPr>
            <a:r>
              <a:rPr lang="en-US" sz="1050" i="1" dirty="0">
                <a:solidFill>
                  <a:srgbClr val="000000"/>
                </a:solidFill>
                <a:latin typeface="Calibri" pitchFamily="34" charset="0"/>
                <a:ea typeface="Calibri" pitchFamily="34" charset="-122"/>
                <a:cs typeface="Calibri" pitchFamily="34" charset="-120"/>
              </a:rPr>
              <a:t>user selects one: maximise throughput or minimise cost;  M keeps the model feasible</a:t>
            </a:r>
            <a:endParaRPr lang="en-US" sz="1050" dirty="0"/>
          </a:p>
        </p:txBody>
      </p:sp>
      <p:sp>
        <p:nvSpPr>
          <p:cNvPr id="17" name="Text 15"/>
          <p:cNvSpPr/>
          <p:nvPr/>
        </p:nvSpPr>
        <p:spPr>
          <a:xfrm>
            <a:off x="6812280" y="3346704"/>
            <a:ext cx="4663440" cy="1389888"/>
          </a:xfrm>
          <a:prstGeom prst="rect">
            <a:avLst/>
          </a:prstGeom>
          <a:noFill/>
          <a:ln/>
        </p:spPr>
        <p:txBody>
          <a:bodyPr wrap="square" lIns="0" tIns="0" rIns="0" bIns="0" rtlCol="0" anchor="t"/>
          <a:lstStyle/>
          <a:p>
            <a:pPr marL="0" indent="0">
              <a:lnSpc>
                <a:spcPts val="1150"/>
              </a:lnSpc>
              <a:buNone/>
            </a:pPr>
            <a:r>
              <a:rPr lang="en-US" sz="1050" dirty="0" b="0">
                <a:solidFill>
                  <a:srgbClr val="000000"/>
                </a:solidFill>
                <a:latin typeface="Calibri" pitchFamily="34" charset="0"/>
                <a:ea typeface="Calibri" pitchFamily="34" charset="-122"/>
                <a:cs typeface="Calibri" pitchFamily="34" charset="-120"/>
              </a:rPr>
              <a:t>αₜ , βₜ - throughput per worker / per equipment unit (tons/h);  cʷₜ , cᵉₜ - cost per unit</a:t>
            </a:r>
            <a:endParaRPr lang="en-US" sz="1200" dirty="0"/>
          </a:p>
          <a:p>
            <a:pPr marL="0" indent="0">
              <a:lnSpc>
                <a:spcPts val="1150"/>
              </a:lnSpc>
              <a:buNone/>
            </a:pPr>
            <a:r>
              <a:rPr lang="en-US" sz="1050" dirty="0" b="0">
                <a:solidFill>
                  <a:srgbClr val="000000"/>
                </a:solidFill>
                <a:latin typeface="Calibri" pitchFamily="34" charset="0"/>
                <a:ea typeface="Calibri" pitchFamily="34" charset="-122"/>
                <a:cs typeface="Calibri" pitchFamily="34" charset="-120"/>
              </a:rPr>
              <a:t>Dₜ = (1/H) · Σ Demand_Forecast at terminal t  [tons/h],  H = 8 h</a:t>
            </a:r>
          </a:p>
          <a:p>
            <a:pPr marL="0" indent="0">
              <a:lnSpc>
                <a:spcPts val="1150"/>
              </a:lnSpc>
              <a:buNone/>
            </a:pPr>
            <a:r>
              <a:rPr lang="en-US" sz="1050" dirty="0" b="0">
                <a:solidFill>
                  <a:srgbClr val="000000"/>
                </a:solidFill>
                <a:latin typeface="Calibri" pitchFamily="34" charset="0"/>
                <a:ea typeface="Calibri" pitchFamily="34" charset="-122"/>
                <a:cs typeface="Calibri" pitchFamily="34" charset="-120"/>
              </a:rPr>
              <a:t>Capₜ - 95th-percentile throughput of terminal t;  M - large penalty</a:t>
            </a:r>
            <a:endParaRPr lang="en-US" sz="1200" dirty="0"/>
          </a:p>
          <a:p>
            <a:pPr marL="0" indent="0">
              <a:lnSpc>
                <a:spcPts val="1150"/>
              </a:lnSpc>
              <a:buNone/>
            </a:pPr>
            <a:r>
              <a:rPr lang="en-US" sz="1050" dirty="0" b="1">
                <a:solidFill>
                  <a:srgbClr val="000000"/>
                </a:solidFill>
                <a:latin typeface="Calibri" pitchFamily="34" charset="0"/>
                <a:ea typeface="Calibri" pitchFamily="34" charset="-122"/>
                <a:cs typeface="Calibri" pitchFamily="34" charset="-120"/>
              </a:rPr>
              <a:t>Derived from the data </a:t>
            </a:r>
            <a:r>
              <a:rPr lang="en-US" sz="1050" dirty="0" b="0">
                <a:solidFill>
                  <a:srgbClr val="000000"/>
                </a:solidFill>
                <a:latin typeface="Calibri" pitchFamily="34" charset="0"/>
                <a:ea typeface="Calibri" pitchFamily="34" charset="-122"/>
                <a:cs typeface="Calibri" pitchFamily="34" charset="-120"/>
              </a:rPr>
              <a:t>(T̄ₜ , w̄ₜ , ēₜ = terminal means):</a:t>
            </a:r>
            <a:endParaRPr lang="en-US" sz="1200" dirty="0"/>
          </a:p>
          <a:p>
            <a:pPr marL="0" indent="0">
              <a:lnSpc>
                <a:spcPts val="1150"/>
              </a:lnSpc>
              <a:buNone/>
            </a:pPr>
            <a:r>
              <a:rPr lang="en-US" sz="1050" b="0" dirty="0">
                <a:solidFill>
                  <a:srgbClr val="000000"/>
                </a:solidFill>
                <a:latin typeface="Calibri" pitchFamily="34" charset="0"/>
                <a:ea typeface="Calibri" pitchFamily="34" charset="-122"/>
                <a:cs typeface="Calibri" pitchFamily="34" charset="-120"/>
              </a:rPr>
              <a:t>αₜ = γₜ · θ T̄ₜ / w̄ₜ ,     βₜ = γₜ · (1 − θ) T̄ₜ / ēₜ ,     θ = 0.6</a:t>
            </a:r>
            <a:endParaRPr lang="en-US" sz="1200" dirty="0"/>
          </a:p>
          <a:p>
            <a:pPr marL="0" indent="0">
              <a:lnSpc>
                <a:spcPts val="1150"/>
              </a:lnSpc>
              <a:buNone/>
            </a:pPr>
            <a:r>
              <a:rPr lang="en-US" sz="1050" dirty="0" b="0">
                <a:solidFill>
                  <a:srgbClr val="000000"/>
                </a:solidFill>
                <a:latin typeface="Calibri" pitchFamily="34" charset="0"/>
                <a:ea typeface="Calibri" pitchFamily="34" charset="-122"/>
                <a:cs typeface="Calibri" pitchFamily="34" charset="-120"/>
              </a:rPr>
              <a:t>θ = labour share of throughput (assumed);  cost coefficients split the same way</a:t>
            </a:r>
            <a:endParaRPr lang="en-US" sz="1200" dirty="0"/>
          </a:p>
          <a:p>
            <a:pPr marL="0" indent="0">
              <a:lnSpc>
                <a:spcPts val="1150"/>
              </a:lnSpc>
              <a:buNone/>
            </a:pPr>
            <a:r>
              <a:rPr lang="en-US" sz="1050" dirty="0" b="0">
                <a:solidFill>
                  <a:srgbClr val="000000"/>
                </a:solidFill>
                <a:latin typeface="Calibri" pitchFamily="34" charset="0"/>
                <a:ea typeface="Calibri" pitchFamily="34" charset="-122"/>
                <a:cs typeface="Calibri" pitchFamily="34" charset="-120"/>
              </a:rPr>
              <a:t>γₜ = congestion factor from bottleneck rate and facility utilisation - it separates otherwise near-identical terminals</a:t>
            </a:r>
            <a:endParaRPr lang="en-US" sz="1200" dirty="0"/>
          </a:p>
        </p:txBody>
      </p:sp>
      <p:sp>
        <p:nvSpPr>
          <p:cNvPr id="18" name="Text 16"/>
          <p:cNvSpPr/>
          <p:nvPr/>
        </p:nvSpPr>
        <p:spPr>
          <a:xfrm>
            <a:off x="713232" y="4480560"/>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Subject to</a:t>
            </a:r>
            <a:endParaRPr lang="en-US" sz="1500" dirty="0"/>
          </a:p>
        </p:txBody>
      </p:sp>
      <p:sp>
        <p:nvSpPr>
          <p:cNvPr id="19" name="Shape 17"/>
          <p:cNvSpPr/>
          <p:nvPr/>
        </p:nvSpPr>
        <p:spPr>
          <a:xfrm>
            <a:off x="713232" y="4764024"/>
            <a:ext cx="10762488" cy="0"/>
          </a:xfrm>
          <a:prstGeom prst="line">
            <a:avLst/>
          </a:prstGeom>
          <a:noFill/>
          <a:ln w="12700">
            <a:solidFill>
              <a:srgbClr val="000000"/>
            </a:solidFill>
            <a:prstDash val="solid"/>
          </a:ln>
        </p:spPr>
      </p:sp>
      <p:sp>
        <p:nvSpPr>
          <p:cNvPr id="20" name="Text 18"/>
          <p:cNvSpPr/>
          <p:nvPr/>
        </p:nvSpPr>
        <p:spPr>
          <a:xfrm>
            <a:off x="1051560" y="4846320"/>
            <a:ext cx="4572000" cy="1280160"/>
          </a:xfrm>
          <a:prstGeom prst="rect">
            <a:avLst/>
          </a:prstGeom>
          <a:noFill/>
          <a:ln/>
        </p:spPr>
        <p:txBody>
          <a:bodyPr wrap="square" lIns="0" tIns="0" rIns="0" bIns="0" rtlCol="0" anchor="t"/>
          <a:lstStyle/>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Σₜ wₜ  ≤  W</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Σₜ eₜ  ≤  E</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αₜ wₜ + βₜ eₜ + sₜ  ≥  Dₜ</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αₜ wₜ + βₜ eₜ  ≤  Capₜ</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wₜ  ≥  ρ eₜ</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wₜᵐⁱⁿ ≤ wₜ ≤ wₜᵐᵃˣ ,   eₜᵐⁱⁿ ≤ eₜ ≤ eₜᵐᵃˣ</a:t>
            </a:r>
            <a:endParaRPr lang="en-US" sz="1200" dirty="0"/>
          </a:p>
          <a:p>
            <a:pPr marL="152400" indent="-152400">
              <a:lnSpc>
                <a:spcPts val="1400"/>
              </a:lnSpc>
              <a:buSzPct val="100000"/>
              <a:buChar char="•"/>
            </a:pPr>
            <a:r>
              <a:rPr lang="en-US" sz="1200" dirty="0">
                <a:solidFill>
                  <a:srgbClr val="000000"/>
                </a:solidFill>
                <a:latin typeface="Calibri" pitchFamily="34" charset="0"/>
                <a:ea typeface="Calibri" pitchFamily="34" charset="-122"/>
                <a:cs typeface="Calibri" pitchFamily="34" charset="-120"/>
              </a:rPr>
              <a:t>wₜ , sₜ ≥ 0 ;   eₜ ≥ 0 and integer</a:t>
            </a:r>
            <a:endParaRPr lang="en-US" sz="1200" dirty="0"/>
          </a:p>
        </p:txBody>
      </p:sp>
      <p:sp>
        <p:nvSpPr>
          <p:cNvPr id="21" name="Text 19"/>
          <p:cNvSpPr/>
          <p:nvPr/>
        </p:nvSpPr>
        <p:spPr>
          <a:xfrm>
            <a:off x="5760720" y="4846320"/>
            <a:ext cx="4754880" cy="1280160"/>
          </a:xfrm>
          <a:prstGeom prst="rect">
            <a:avLst/>
          </a:prstGeom>
          <a:noFill/>
          <a:ln/>
        </p:spPr>
        <p:txBody>
          <a:bodyPr wrap="square" lIns="0" tIns="0" rIns="0" bIns="0" rtlCol="0" anchor="t"/>
          <a:lstStyle/>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total workers available</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total equipment available</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demand at each terminal (soft: any shortfall sₜ is penalised)</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handling capacity of the terminal</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every machine needs operators  (ρ = 1.5 workers per unit)</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allocation limits per terminal (5th - 95th percentile of observed)</a:t>
            </a:r>
            <a:endParaRPr lang="en-US" sz="1150" dirty="0"/>
          </a:p>
          <a:p>
            <a:pPr marL="0" indent="0">
              <a:lnSpc>
                <a:spcPts val="1400"/>
              </a:lnSpc>
              <a:buNone/>
            </a:pPr>
            <a:r>
              <a:rPr lang="en-US" sz="1150" i="1" dirty="0">
                <a:solidFill>
                  <a:srgbClr val="000000"/>
                </a:solidFill>
                <a:latin typeface="Calibri" pitchFamily="34" charset="0"/>
                <a:ea typeface="Calibri" pitchFamily="34" charset="-122"/>
                <a:cs typeface="Calibri" pitchFamily="34" charset="-120"/>
              </a:rPr>
              <a:t>non-negativity and whole machines</a:t>
            </a:r>
            <a:endParaRPr lang="en-US" sz="1150" dirty="0"/>
          </a:p>
        </p:txBody>
      </p:sp>
      <p:sp>
        <p:nvSpPr>
          <p:cNvPr id="22" name="Text 20"/>
          <p:cNvSpPr/>
          <p:nvPr/>
        </p:nvSpPr>
        <p:spPr>
          <a:xfrm>
            <a:off x="10698480" y="4846320"/>
            <a:ext cx="548640" cy="1280160"/>
          </a:xfrm>
          <a:prstGeom prst="rect">
            <a:avLst/>
          </a:prstGeom>
          <a:noFill/>
          <a:ln/>
        </p:spPr>
        <p:txBody>
          <a:bodyPr wrap="square" lIns="0" tIns="0" rIns="0" bIns="0" rtlCol="0" anchor="t"/>
          <a:lstStyle/>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(1)</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(2)</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(3)</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(4)</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(5)</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(6)</a:t>
            </a:r>
            <a:endParaRPr lang="en-US" sz="1150" dirty="0"/>
          </a:p>
          <a:p>
            <a:pPr marL="0" indent="0" algn="r">
              <a:lnSpc>
                <a:spcPts val="1400"/>
              </a:lnSpc>
              <a:buNone/>
            </a:pPr>
            <a:r>
              <a:rPr lang="en-US" sz="1150" dirty="0">
                <a:solidFill>
                  <a:srgbClr val="000000"/>
                </a:solidFill>
                <a:latin typeface="Calibri" pitchFamily="34" charset="0"/>
                <a:ea typeface="Calibri" pitchFamily="34" charset="-122"/>
                <a:cs typeface="Calibri" pitchFamily="34" charset="-120"/>
              </a:rPr>
              <a:t>(7)</a:t>
            </a:r>
            <a:endParaRPr lang="en-US" sz="1150" dirty="0"/>
          </a:p>
        </p:txBody>
      </p:sp>
      <p:sp>
        <p:nvSpPr>
          <p:cNvPr id="23" name="Text 21"/>
          <p:cNvSpPr/>
          <p:nvPr/>
        </p:nvSpPr>
        <p:spPr>
          <a:xfrm>
            <a:off x="713232" y="6144768"/>
            <a:ext cx="9875520" cy="274320"/>
          </a:xfrm>
          <a:prstGeom prst="rect">
            <a:avLst/>
          </a:prstGeom>
          <a:noFill/>
          <a:ln/>
        </p:spPr>
        <p:txBody>
          <a:bodyPr wrap="square" lIns="0" tIns="0" rIns="0" bIns="0" rtlCol="0" anchor="ctr"/>
          <a:lstStyle/>
          <a:p>
            <a:pPr marL="0" indent="0">
              <a:buNone/>
            </a:pPr>
            <a:r>
              <a:rPr lang="en-US" sz="1250" b="1" dirty="0">
                <a:solidFill>
                  <a:srgbClr val="000000"/>
                </a:solidFill>
                <a:latin typeface="Calibri" pitchFamily="34" charset="0"/>
                <a:ea typeface="Calibri" pitchFamily="34" charset="-122"/>
                <a:cs typeface="Calibri" pitchFamily="34" charset="-120"/>
              </a:rPr>
              <a:t>Goal: </a:t>
            </a:r>
            <a:r>
              <a:rPr lang="en-US" sz="1250" dirty="0">
                <a:solidFill>
                  <a:srgbClr val="000000"/>
                </a:solidFill>
                <a:latin typeface="Calibri" pitchFamily="34" charset="0"/>
                <a:ea typeface="Calibri" pitchFamily="34" charset="-122"/>
                <a:cs typeface="Calibri" pitchFamily="34" charset="-120"/>
              </a:rPr>
              <a:t>Allocate workers and equipment to maximise throughput (or minimise cost) while meeting demand within capacity.</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85602"/>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9</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Optimization Model 2</a:t>
            </a:r>
            <a:endParaRPr lang="en-US" sz="3200" dirty="0"/>
          </a:p>
        </p:txBody>
      </p:sp>
      <p:sp>
        <p:nvSpPr>
          <p:cNvPr id="5" name="Text 3"/>
          <p:cNvSpPr/>
          <p:nvPr/>
        </p:nvSpPr>
        <p:spPr>
          <a:xfrm>
            <a:off x="640080" y="1115568"/>
            <a:ext cx="10908792" cy="274320"/>
          </a:xfrm>
          <a:prstGeom prst="rect">
            <a:avLst/>
          </a:prstGeom>
          <a:noFill/>
          <a:ln/>
        </p:spPr>
        <p:txBody>
          <a:bodyPr wrap="square" lIns="0" tIns="0" rIns="0" bIns="0" rtlCol="0" anchor="ctr"/>
          <a:lstStyle/>
          <a:p>
            <a:pPr marL="0" indent="0" algn="ctr">
              <a:buNone/>
            </a:pPr>
            <a:r>
              <a:rPr lang="en-US" sz="1500" b="1" dirty="0">
                <a:solidFill>
                  <a:srgbClr val="000000"/>
                </a:solidFill>
                <a:latin typeface="Calibri" pitchFamily="34" charset="0"/>
                <a:ea typeface="Calibri" pitchFamily="34" charset="-122"/>
                <a:cs typeface="Calibri" pitchFamily="34" charset="-120"/>
              </a:rPr>
              <a:t>Shipment Selection  —  Integer Programming</a:t>
            </a:r>
            <a:endParaRPr lang="en-US" sz="1500" dirty="0"/>
          </a:p>
        </p:txBody>
      </p:sp>
      <p:sp>
        <p:nvSpPr>
          <p:cNvPr id="6" name="Text 4"/>
          <p:cNvSpPr/>
          <p:nvPr/>
        </p:nvSpPr>
        <p:spPr>
          <a:xfrm>
            <a:off x="713232" y="1408176"/>
            <a:ext cx="10762488" cy="438912"/>
          </a:xfrm>
          <a:prstGeom prst="rect">
            <a:avLst/>
          </a:prstGeom>
          <a:noFill/>
          <a:ln/>
        </p:spPr>
        <p:txBody>
          <a:bodyPr wrap="square" lIns="0" tIns="0" rIns="0" bIns="0" rtlCol="0" anchor="t"/>
          <a:lstStyle/>
          <a:p>
            <a:pPr marL="0" indent="0">
              <a:lnSpc>
                <a:spcPts val="2000"/>
              </a:lnSpc>
              <a:buNone/>
            </a:pPr>
            <a:r>
              <a:rPr lang="en-US" sz="1400" dirty="0">
                <a:solidFill>
                  <a:srgbClr val="000000"/>
                </a:solidFill>
                <a:latin typeface="Calibri" pitchFamily="34" charset="0"/>
                <a:ea typeface="Calibri" pitchFamily="34" charset="-122"/>
                <a:cs typeface="Calibri" pitchFamily="34" charset="-120"/>
              </a:rPr>
              <a:t>Determine which shipments should be processed in the current time window so that the total priority value is maximized without crossing the available capacity.</a:t>
            </a:r>
            <a:endParaRPr lang="en-US" sz="1400" dirty="0"/>
          </a:p>
        </p:txBody>
      </p:sp>
      <p:sp>
        <p:nvSpPr>
          <p:cNvPr id="7" name="Text 5"/>
          <p:cNvSpPr/>
          <p:nvPr/>
        </p:nvSpPr>
        <p:spPr>
          <a:xfrm>
            <a:off x="713232" y="1901952"/>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Decision Variable</a:t>
            </a:r>
            <a:endParaRPr lang="en-US" sz="1500" dirty="0"/>
          </a:p>
        </p:txBody>
      </p:sp>
      <p:sp>
        <p:nvSpPr>
          <p:cNvPr id="8" name="Shape 6"/>
          <p:cNvSpPr/>
          <p:nvPr/>
        </p:nvSpPr>
        <p:spPr>
          <a:xfrm>
            <a:off x="713232" y="2185416"/>
            <a:ext cx="10762488" cy="0"/>
          </a:xfrm>
          <a:prstGeom prst="line">
            <a:avLst/>
          </a:prstGeom>
          <a:noFill/>
          <a:ln w="12700">
            <a:solidFill>
              <a:srgbClr val="000000"/>
            </a:solidFill>
            <a:prstDash val="solid"/>
          </a:ln>
        </p:spPr>
      </p:sp>
      <p:sp>
        <p:nvSpPr>
          <p:cNvPr id="9" name="Text 7"/>
          <p:cNvSpPr/>
          <p:nvPr/>
        </p:nvSpPr>
        <p:spPr>
          <a:xfrm>
            <a:off x="960120" y="2267712"/>
            <a:ext cx="1645920" cy="256032"/>
          </a:xfrm>
          <a:prstGeom prst="rect">
            <a:avLst/>
          </a:prstGeom>
          <a:noFill/>
          <a:ln/>
        </p:spPr>
        <p:txBody>
          <a:bodyPr wrap="square" lIns="0" tIns="0" rIns="0" bIns="0" rtlCol="0" anchor="ctr"/>
          <a:lstStyle/>
          <a:p>
            <a:pPr marL="0" indent="0">
              <a:buNone/>
            </a:pPr>
            <a:r>
              <a:rPr lang="en-US" sz="1350" dirty="0">
                <a:solidFill>
                  <a:srgbClr val="000000"/>
                </a:solidFill>
                <a:latin typeface="Calibri" pitchFamily="34" charset="0"/>
                <a:ea typeface="Calibri" pitchFamily="34" charset="-122"/>
                <a:cs typeface="Calibri" pitchFamily="34" charset="-120"/>
              </a:rPr>
              <a:t>xᵢ  ∈  { 0, 1 }</a:t>
            </a:r>
            <a:endParaRPr lang="en-US" sz="1350" dirty="0"/>
          </a:p>
        </p:txBody>
      </p:sp>
      <p:sp>
        <p:nvSpPr>
          <p:cNvPr id="10" name="Text 8"/>
          <p:cNvSpPr/>
          <p:nvPr/>
        </p:nvSpPr>
        <p:spPr>
          <a:xfrm>
            <a:off x="2743200" y="2267712"/>
            <a:ext cx="4937760" cy="256032"/>
          </a:xfrm>
          <a:prstGeom prst="rect">
            <a:avLst/>
          </a:prstGeom>
          <a:noFill/>
          <a:ln/>
        </p:spPr>
        <p:txBody>
          <a:bodyPr wrap="square" lIns="0" tIns="0" rIns="0" bIns="0" rtlCol="0" anchor="ctr"/>
          <a:lstStyle/>
          <a:p>
            <a:pPr marL="0" indent="0">
              <a:buNone/>
            </a:pPr>
            <a:r>
              <a:rPr lang="en-US" sz="1350" dirty="0">
                <a:solidFill>
                  <a:srgbClr val="000000"/>
                </a:solidFill>
                <a:latin typeface="Calibri" pitchFamily="34" charset="0"/>
                <a:ea typeface="Calibri" pitchFamily="34" charset="-122"/>
                <a:cs typeface="Calibri" pitchFamily="34" charset="-120"/>
              </a:rPr>
              <a:t>= 1 if shipment i is processed in this window,  otherwise 0</a:t>
            </a:r>
            <a:endParaRPr lang="en-US" sz="1350" dirty="0"/>
          </a:p>
        </p:txBody>
      </p:sp>
      <p:sp>
        <p:nvSpPr>
          <p:cNvPr id="11" name="Text 9"/>
          <p:cNvSpPr/>
          <p:nvPr/>
        </p:nvSpPr>
        <p:spPr>
          <a:xfrm>
            <a:off x="960120" y="2560320"/>
            <a:ext cx="6400800" cy="256032"/>
          </a:xfrm>
          <a:prstGeom prst="rect">
            <a:avLst/>
          </a:prstGeom>
          <a:noFill/>
          <a:ln/>
        </p:spPr>
        <p:txBody>
          <a:bodyPr wrap="square" lIns="0" tIns="0" rIns="0" bIns="0" rtlCol="0" anchor="ctr"/>
          <a:lstStyle/>
          <a:p>
            <a:pPr marL="0" indent="0">
              <a:buNone/>
            </a:pPr>
            <a:r>
              <a:rPr lang="en-US" sz="1100" i="1" dirty="0">
                <a:solidFill>
                  <a:srgbClr val="000000"/>
                </a:solidFill>
                <a:latin typeface="Calibri" pitchFamily="34" charset="0"/>
                <a:ea typeface="Calibri" pitchFamily="34" charset="-122"/>
                <a:cs typeface="Calibri" pitchFamily="34" charset="-120"/>
              </a:rPr>
              <a:t>for every shipment  i = 1, 2, … , n  in the selected batch</a:t>
            </a:r>
            <a:endParaRPr lang="en-US" sz="1100" dirty="0"/>
          </a:p>
        </p:txBody>
      </p:sp>
      <p:sp>
        <p:nvSpPr>
          <p:cNvPr id="12" name="Text 10"/>
          <p:cNvSpPr/>
          <p:nvPr/>
        </p:nvSpPr>
        <p:spPr>
          <a:xfrm>
            <a:off x="713232" y="2944368"/>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Objective Function</a:t>
            </a:r>
            <a:endParaRPr lang="en-US" sz="1500" dirty="0"/>
          </a:p>
        </p:txBody>
      </p:sp>
      <p:sp>
        <p:nvSpPr>
          <p:cNvPr id="13" name="Shape 11"/>
          <p:cNvSpPr/>
          <p:nvPr/>
        </p:nvSpPr>
        <p:spPr>
          <a:xfrm>
            <a:off x="713232" y="3227832"/>
            <a:ext cx="10762488" cy="0"/>
          </a:xfrm>
          <a:prstGeom prst="line">
            <a:avLst/>
          </a:prstGeom>
          <a:noFill/>
          <a:ln w="12700">
            <a:solidFill>
              <a:srgbClr val="000000"/>
            </a:solidFill>
            <a:prstDash val="solid"/>
          </a:ln>
        </p:spPr>
      </p:sp>
      <p:sp>
        <p:nvSpPr>
          <p:cNvPr id="14" name="Shape 12"/>
          <p:cNvSpPr/>
          <p:nvPr/>
        </p:nvSpPr>
        <p:spPr>
          <a:xfrm>
            <a:off x="850392" y="3310128"/>
            <a:ext cx="6355080" cy="868680"/>
          </a:xfrm>
          <a:prstGeom prst="rect">
            <a:avLst/>
          </a:prstGeom>
          <a:solidFill>
            <a:srgbClr val="FFFFFF"/>
          </a:solidFill>
          <a:ln w="9525">
            <a:solidFill>
              <a:srgbClr val="000000"/>
            </a:solidFill>
            <a:prstDash val="solid"/>
          </a:ln>
        </p:spPr>
      </p:sp>
      <p:sp>
        <p:nvSpPr>
          <p:cNvPr id="15" name="Text 13"/>
          <p:cNvSpPr/>
          <p:nvPr/>
        </p:nvSpPr>
        <p:spPr>
          <a:xfrm>
            <a:off x="941832" y="3383280"/>
            <a:ext cx="6217920" cy="731520"/>
          </a:xfrm>
          <a:prstGeom prst="rect">
            <a:avLst/>
          </a:prstGeom>
          <a:noFill/>
          <a:ln/>
        </p:spPr>
        <p:txBody>
          <a:bodyPr wrap="square" lIns="0" tIns="0" rIns="0" bIns="0" rtlCol="0" anchor="t"/>
          <a:lstStyle/>
          <a:p>
            <a:pPr marL="0" indent="0">
              <a:lnSpc>
                <a:spcPts val="2100"/>
              </a:lnSpc>
              <a:buNone/>
            </a:pPr>
            <a:r>
              <a:rPr lang="en-US" sz="1450" dirty="0">
                <a:solidFill>
                  <a:srgbClr val="000000"/>
                </a:solidFill>
                <a:latin typeface="Calibri" pitchFamily="34" charset="0"/>
                <a:ea typeface="Calibri" pitchFamily="34" charset="-122"/>
                <a:cs typeface="Calibri" pitchFamily="34" charset="-120"/>
              </a:rPr>
              <a:t>max  Z  =  Σᵢ  vᵢ xᵢ</a:t>
            </a:r>
            <a:endParaRPr lang="en-US" sz="1450" dirty="0"/>
          </a:p>
          <a:p>
            <a:pPr marL="0" indent="0">
              <a:lnSpc>
                <a:spcPts val="2100"/>
              </a:lnSpc>
              <a:buNone/>
            </a:pPr>
            <a:r>
              <a:rPr lang="en-US" sz="1450" dirty="0">
                <a:solidFill>
                  <a:srgbClr val="000000"/>
                </a:solidFill>
                <a:latin typeface="Calibri" pitchFamily="34" charset="0"/>
                <a:ea typeface="Calibri" pitchFamily="34" charset="-122"/>
                <a:cs typeface="Calibri" pitchFamily="34" charset="-120"/>
              </a:rPr>
              <a:t>where     vᵢ  =  pᵢ × [ 1 + U · ( λ₁ · waitᵢ + λ₂ · queueᵢ ) / ( λ₁ + λ₂ ) ]</a:t>
            </a:r>
            <a:endParaRPr lang="en-US" sz="1450" dirty="0"/>
          </a:p>
        </p:txBody>
      </p:sp>
      <p:sp>
        <p:nvSpPr>
          <p:cNvPr id="16" name="Text 14"/>
          <p:cNvSpPr/>
          <p:nvPr/>
        </p:nvSpPr>
        <p:spPr>
          <a:xfrm>
            <a:off x="941832" y="4206240"/>
            <a:ext cx="6400800" cy="228600"/>
          </a:xfrm>
          <a:prstGeom prst="rect">
            <a:avLst/>
          </a:prstGeom>
          <a:noFill/>
          <a:ln/>
        </p:spPr>
        <p:txBody>
          <a:bodyPr wrap="square" lIns="0" tIns="0" rIns="0" bIns="0" rtlCol="0" anchor="ctr"/>
          <a:lstStyle/>
          <a:p>
            <a:pPr marL="0" indent="0">
              <a:buNone/>
            </a:pPr>
            <a:r>
              <a:rPr lang="en-US" sz="1050" i="1" dirty="0">
                <a:solidFill>
                  <a:srgbClr val="000000"/>
                </a:solidFill>
                <a:latin typeface="Calibri" pitchFamily="34" charset="0"/>
                <a:ea typeface="Calibri" pitchFamily="34" charset="-122"/>
                <a:cs typeface="Calibri" pitchFamily="34" charset="-120"/>
              </a:rPr>
              <a:t>total priority value processed in this window - urgency refines the priority order, it never overrides it</a:t>
            </a:r>
            <a:endParaRPr lang="en-US" sz="1050" dirty="0"/>
          </a:p>
        </p:txBody>
      </p:sp>
      <p:sp>
        <p:nvSpPr>
          <p:cNvPr id="17" name="Text 15"/>
          <p:cNvSpPr/>
          <p:nvPr/>
        </p:nvSpPr>
        <p:spPr>
          <a:xfrm>
            <a:off x="7406640" y="3310128"/>
            <a:ext cx="4069080" cy="1444752"/>
          </a:xfrm>
          <a:prstGeom prst="rect">
            <a:avLst/>
          </a:prstGeom>
          <a:noFill/>
          <a:ln/>
        </p:spPr>
        <p:txBody>
          <a:bodyPr wrap="square" lIns="0" tIns="0" rIns="0" bIns="0" rtlCol="0" anchor="t"/>
          <a:lstStyle/>
          <a:p>
            <a:pPr marL="171450" indent="-171450">
              <a:lnSpc>
                <a:spcPts val="1400"/>
              </a:lnSpc>
              <a:buFont typeface="Arial" panose="020B0604020202020204" pitchFamily="34" charset="0"/>
              <a:buChar char="•"/>
            </a:pPr>
            <a:r>
              <a:rPr lang="en-US" sz="1050" dirty="0">
                <a:solidFill>
                  <a:srgbClr val="000000"/>
                </a:solidFill>
                <a:latin typeface="Calibri" pitchFamily="34" charset="0"/>
                <a:ea typeface="Calibri" pitchFamily="34" charset="-122"/>
                <a:cs typeface="Calibri" pitchFamily="34" charset="-120"/>
              </a:rPr>
              <a:t>pᵢ - priority weight  (Critical 10, High 5, Medium 2, Low 1)</a:t>
            </a:r>
            <a:endParaRPr lang="en-US" sz="1200" dirty="0"/>
          </a:p>
          <a:p>
            <a:pPr marL="171450" indent="-171450">
              <a:lnSpc>
                <a:spcPts val="1400"/>
              </a:lnSpc>
              <a:buFont typeface="Arial" panose="020B0604020202020204" pitchFamily="34" charset="0"/>
              <a:buChar char="•"/>
            </a:pPr>
            <a:r>
              <a:rPr lang="en-US" sz="1050" dirty="0">
                <a:solidFill>
                  <a:srgbClr val="000000"/>
                </a:solidFill>
                <a:latin typeface="Calibri" pitchFamily="34" charset="0"/>
                <a:ea typeface="Calibri" pitchFamily="34" charset="-122"/>
                <a:cs typeface="Calibri" pitchFamily="34" charset="-120"/>
              </a:rPr>
              <a:t>waitᵢ , queueᵢ - waiting time and queue length of shipment i, scaled to [0, 1] within the batch</a:t>
            </a:r>
            <a:endParaRPr lang="en-US" sz="1200" dirty="0"/>
          </a:p>
          <a:p>
            <a:pPr marL="171450" indent="-171450">
              <a:lnSpc>
                <a:spcPts val="1400"/>
              </a:lnSpc>
              <a:buFont typeface="Arial" panose="020B0604020202020204" pitchFamily="34" charset="0"/>
              <a:buChar char="•"/>
            </a:pPr>
            <a:r>
              <a:rPr lang="en-US" sz="1050" dirty="0">
                <a:solidFill>
                  <a:srgbClr val="000000"/>
                </a:solidFill>
                <a:latin typeface="Calibri" pitchFamily="34" charset="0"/>
                <a:ea typeface="Calibri" pitchFamily="34" charset="-122"/>
                <a:cs typeface="Calibri" pitchFamily="34" charset="-120"/>
              </a:rPr>
              <a:t>λ₁ , λ₂ - urgency weights (only their ratio matters)</a:t>
            </a:r>
            <a:endParaRPr lang="en-US" sz="1200" dirty="0"/>
          </a:p>
          <a:p>
            <a:pPr marL="171450" indent="-171450">
              <a:lnSpc>
                <a:spcPts val="1400"/>
              </a:lnSpc>
              <a:buFont typeface="Arial" panose="020B0604020202020204" pitchFamily="34" charset="0"/>
              <a:buChar char="•"/>
            </a:pPr>
            <a:r>
              <a:rPr lang="en-US" sz="1050" dirty="0">
                <a:solidFill>
                  <a:srgbClr val="000000"/>
                </a:solidFill>
                <a:latin typeface="Calibri" pitchFamily="34" charset="0"/>
                <a:ea typeface="Calibri" pitchFamily="34" charset="-122"/>
                <a:cs typeface="Calibri" pitchFamily="34" charset="-120"/>
              </a:rPr>
              <a:t>U = 0.9 - caps the urgency uplift below 2×, so a shipment can never jump above the next priority class</a:t>
            </a:r>
            <a:endParaRPr lang="en-US" sz="1200" dirty="0"/>
          </a:p>
        </p:txBody>
      </p:sp>
      <p:sp>
        <p:nvSpPr>
          <p:cNvPr id="18" name="Text 16"/>
          <p:cNvSpPr/>
          <p:nvPr/>
        </p:nvSpPr>
        <p:spPr>
          <a:xfrm>
            <a:off x="713232" y="4535424"/>
            <a:ext cx="54864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Subject to</a:t>
            </a:r>
            <a:endParaRPr lang="en-US" sz="1500" dirty="0"/>
          </a:p>
        </p:txBody>
      </p:sp>
      <p:sp>
        <p:nvSpPr>
          <p:cNvPr id="19" name="Shape 17"/>
          <p:cNvSpPr/>
          <p:nvPr/>
        </p:nvSpPr>
        <p:spPr>
          <a:xfrm>
            <a:off x="713232" y="4818888"/>
            <a:ext cx="10762488" cy="0"/>
          </a:xfrm>
          <a:prstGeom prst="line">
            <a:avLst/>
          </a:prstGeom>
          <a:noFill/>
          <a:ln w="12700">
            <a:solidFill>
              <a:srgbClr val="000000"/>
            </a:solidFill>
            <a:prstDash val="solid"/>
          </a:ln>
        </p:spPr>
      </p:sp>
      <p:sp>
        <p:nvSpPr>
          <p:cNvPr id="20" name="Text 18"/>
          <p:cNvSpPr/>
          <p:nvPr/>
        </p:nvSpPr>
        <p:spPr>
          <a:xfrm>
            <a:off x="1051560" y="4901184"/>
            <a:ext cx="4754880" cy="914400"/>
          </a:xfrm>
          <a:prstGeom prst="rect">
            <a:avLst/>
          </a:prstGeom>
          <a:noFill/>
          <a:ln/>
        </p:spPr>
        <p:txBody>
          <a:bodyPr wrap="square" lIns="0" tIns="0" rIns="0" bIns="0" rtlCol="0" anchor="t"/>
          <a:lstStyle/>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Σᵢ  Volᵢ xᵢ  ≤  Vᶜᵃᵖ</a:t>
            </a:r>
            <a:endParaRPr lang="en-US" sz="1200" dirty="0"/>
          </a:p>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Σ(i∈t) ( hᵢ × Lᵢ ) xᵢ  ≤  60 · H · wₜ*     ∀ t</a:t>
            </a:r>
            <a:endParaRPr lang="en-US" sz="1200" dirty="0"/>
          </a:p>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Σᵢ  ( hᵢ × Eqᵢ ) xᵢ  ≤  Eᶜᵃᵖ</a:t>
            </a:r>
            <a:endParaRPr lang="en-US" sz="1200" dirty="0"/>
          </a:p>
          <a:p>
            <a:pPr marL="152400" indent="-152400">
              <a:lnSpc>
                <a:spcPts val="1700"/>
              </a:lnSpc>
              <a:buSzPct val="100000"/>
              <a:buChar char="•"/>
            </a:pPr>
            <a:r>
              <a:rPr lang="en-US" sz="1200" dirty="0">
                <a:solidFill>
                  <a:srgbClr val="000000"/>
                </a:solidFill>
                <a:latin typeface="Calibri" pitchFamily="34" charset="0"/>
                <a:ea typeface="Calibri" pitchFamily="34" charset="-122"/>
                <a:cs typeface="Calibri" pitchFamily="34" charset="-120"/>
              </a:rPr>
              <a:t>xᵢ  ∈  { 0, 1 }</a:t>
            </a:r>
            <a:endParaRPr lang="en-US" sz="1200" dirty="0"/>
          </a:p>
        </p:txBody>
      </p:sp>
      <p:sp>
        <p:nvSpPr>
          <p:cNvPr id="21" name="Text 19"/>
          <p:cNvSpPr/>
          <p:nvPr/>
        </p:nvSpPr>
        <p:spPr>
          <a:xfrm>
            <a:off x="5897880" y="4901184"/>
            <a:ext cx="4754880" cy="914400"/>
          </a:xfrm>
          <a:prstGeom prst="rect">
            <a:avLst/>
          </a:prstGeom>
          <a:noFill/>
          <a:ln/>
        </p:spPr>
        <p:txBody>
          <a:bodyPr wrap="square" lIns="0" tIns="0" rIns="0" bIns="0" rtlCol="0" anchor="t"/>
          <a:lstStyle/>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storage capacity available in this window</a:t>
            </a:r>
            <a:endParaRPr lang="en-US" sz="1200" dirty="0"/>
          </a:p>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worker-minutes at terminal t;  wₜ* is the workforce chosen by Model 1</a:t>
            </a:r>
            <a:endParaRPr lang="en-US" sz="1200" dirty="0"/>
          </a:p>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equipment-minutes (handling time × units used)</a:t>
            </a:r>
            <a:endParaRPr lang="en-US" sz="1200" dirty="0"/>
          </a:p>
          <a:p>
            <a:pPr marL="0" indent="0">
              <a:lnSpc>
                <a:spcPts val="1700"/>
              </a:lnSpc>
              <a:buNone/>
            </a:pPr>
            <a:r>
              <a:rPr lang="en-US" sz="1200" i="1" dirty="0">
                <a:solidFill>
                  <a:srgbClr val="000000"/>
                </a:solidFill>
                <a:latin typeface="Calibri" pitchFamily="34" charset="0"/>
                <a:ea typeface="Calibri" pitchFamily="34" charset="-122"/>
                <a:cs typeface="Calibri" pitchFamily="34" charset="-120"/>
              </a:rPr>
              <a:t>binary:  a shipment cannot be partly processed</a:t>
            </a:r>
            <a:endParaRPr lang="en-US" sz="1200" dirty="0"/>
          </a:p>
        </p:txBody>
      </p:sp>
      <p:sp>
        <p:nvSpPr>
          <p:cNvPr id="22" name="Text 20"/>
          <p:cNvSpPr/>
          <p:nvPr/>
        </p:nvSpPr>
        <p:spPr>
          <a:xfrm>
            <a:off x="10698480" y="4901184"/>
            <a:ext cx="548640" cy="914400"/>
          </a:xfrm>
          <a:prstGeom prst="rect">
            <a:avLst/>
          </a:prstGeom>
          <a:noFill/>
          <a:ln/>
        </p:spPr>
        <p:txBody>
          <a:bodyPr wrap="square" lIns="0" tIns="0" rIns="0" bIns="0" rtlCol="0" anchor="t"/>
          <a:lstStyle/>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(1)</a:t>
            </a:r>
            <a:endParaRPr lang="en-US" sz="1200" dirty="0"/>
          </a:p>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(2)</a:t>
            </a:r>
            <a:endParaRPr lang="en-US" sz="1200" dirty="0"/>
          </a:p>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(3)</a:t>
            </a:r>
            <a:endParaRPr lang="en-US" sz="1200" dirty="0"/>
          </a:p>
          <a:p>
            <a:pPr marL="0" indent="0" algn="r">
              <a:lnSpc>
                <a:spcPts val="1700"/>
              </a:lnSpc>
              <a:buNone/>
            </a:pPr>
            <a:r>
              <a:rPr lang="en-US" sz="1200" dirty="0">
                <a:solidFill>
                  <a:srgbClr val="000000"/>
                </a:solidFill>
                <a:latin typeface="Calibri" pitchFamily="34" charset="0"/>
                <a:ea typeface="Calibri" pitchFamily="34" charset="-122"/>
                <a:cs typeface="Calibri" pitchFamily="34" charset="-120"/>
              </a:rPr>
              <a:t>(4)</a:t>
            </a:r>
            <a:endParaRPr lang="en-US" sz="1200" dirty="0"/>
          </a:p>
        </p:txBody>
      </p:sp>
      <p:sp>
        <p:nvSpPr>
          <p:cNvPr id="23" name="Text 21"/>
          <p:cNvSpPr/>
          <p:nvPr/>
        </p:nvSpPr>
        <p:spPr>
          <a:xfrm>
            <a:off x="713232" y="6053328"/>
            <a:ext cx="9875520" cy="274320"/>
          </a:xfrm>
          <a:prstGeom prst="rect">
            <a:avLst/>
          </a:prstGeom>
          <a:noFill/>
          <a:ln/>
        </p:spPr>
        <p:txBody>
          <a:bodyPr wrap="square" lIns="0" tIns="0" rIns="0" bIns="0" rtlCol="0" anchor="ctr"/>
          <a:lstStyle/>
          <a:p>
            <a:pPr marL="0" indent="0">
              <a:buNone/>
            </a:pPr>
            <a:r>
              <a:rPr lang="en-US" sz="1250" b="1" dirty="0">
                <a:solidFill>
                  <a:srgbClr val="000000"/>
                </a:solidFill>
                <a:latin typeface="Calibri" pitchFamily="34" charset="0"/>
                <a:ea typeface="Calibri" pitchFamily="34" charset="-122"/>
                <a:cs typeface="Calibri" pitchFamily="34" charset="-120"/>
              </a:rPr>
              <a:t>Goal: </a:t>
            </a:r>
            <a:r>
              <a:rPr lang="en-US" sz="1250" dirty="0">
                <a:solidFill>
                  <a:srgbClr val="000000"/>
                </a:solidFill>
                <a:latin typeface="Calibri" pitchFamily="34" charset="0"/>
                <a:ea typeface="Calibri" pitchFamily="34" charset="-122"/>
                <a:cs typeface="Calibri" pitchFamily="34" charset="-120"/>
              </a:rPr>
              <a:t>Process the most valuable shipments first while staying inside storage, worker-minute (per terminal) and equipment-minute capacity.</a:t>
            </a:r>
            <a:endParaRPr lang="en-US" sz="1250" dirty="0"/>
          </a:p>
        </p:txBody>
      </p:sp>
      <p:sp>
        <p:nvSpPr>
          <p:cNvPr id="40" name="Text note"/>
          <p:cNvSpPr/>
          <p:nvPr/>
        </p:nvSpPr>
        <p:spPr>
          <a:xfrm>
            <a:off x="1051560" y="5815584"/>
            <a:ext cx="9966960" cy="228600"/>
          </a:xfrm>
          <a:prstGeom prst="rect">
            <a:avLst/>
          </a:prstGeom>
          <a:noFill/>
          <a:ln/>
        </p:spPr>
        <p:txBody>
          <a:bodyPr wrap="square" lIns="0" tIns="0" rIns="0" bIns="0" rtlCol="0" anchor="ctr"/>
          <a:lstStyle/>
          <a:p>
            <a:pPr marL="0" indent="0">
              <a:buNone/>
            </a:pPr>
            <a:r>
              <a:rPr lang="en-US" sz="1050" i="1" dirty="0">
                <a:solidFill>
                  <a:srgbClr val="000000"/>
                </a:solidFill>
                <a:latin typeface="Calibri" pitchFamily="34" charset="0"/>
                <a:ea typeface="Calibri" pitchFamily="34" charset="-122"/>
                <a:cs typeface="Calibri" pitchFamily="34" charset="-120"/>
              </a:rPr>
              <a:t>hᵢ handling time (min),  Lᵢ workers,  Eqᵢ equipment units used by shipment i;  H = 8 h planning window;  Vᶜᵃᵖ , Eᶜᵃᵖ = a fraction (default 0.6) of the batch totals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Sensitivity Analysis</a:t>
            </a:r>
            <a:endParaRPr lang="en-US" sz="3200" dirty="0"/>
          </a:p>
        </p:txBody>
      </p:sp>
      <p:sp>
        <p:nvSpPr>
          <p:cNvPr id="5" name="Text 3"/>
          <p:cNvSpPr/>
          <p:nvPr/>
        </p:nvSpPr>
        <p:spPr>
          <a:xfrm>
            <a:off x="713232" y="1444752"/>
            <a:ext cx="10762488" cy="320040"/>
          </a:xfrm>
          <a:prstGeom prst="rect">
            <a:avLst/>
          </a:prstGeom>
          <a:noFill/>
          <a:ln/>
        </p:spPr>
        <p:txBody>
          <a:bodyPr wrap="square" lIns="0" tIns="0" rIns="0" bIns="0" rtlCol="0" anchor="ctr"/>
          <a:lstStyle/>
          <a:p>
            <a:pPr marL="0" indent="0">
              <a:buNone/>
            </a:pPr>
            <a:r>
              <a:rPr lang="en-US" sz="1500" dirty="0">
                <a:solidFill>
                  <a:srgbClr val="000000"/>
                </a:solidFill>
                <a:latin typeface="Calibri" pitchFamily="34" charset="0"/>
                <a:ea typeface="Calibri" pitchFamily="34" charset="-122"/>
                <a:cs typeface="Calibri" pitchFamily="34" charset="-120"/>
              </a:rPr>
              <a:t>Evaluate how changes in the terminal conditions affect the optimal resource allocation and shipment selection decisions.</a:t>
            </a:r>
            <a:endParaRPr lang="en-US" sz="1500" dirty="0"/>
          </a:p>
        </p:txBody>
      </p:sp>
      <p:sp>
        <p:nvSpPr>
          <p:cNvPr id="6" name="Text 4"/>
          <p:cNvSpPr/>
          <p:nvPr/>
        </p:nvSpPr>
        <p:spPr>
          <a:xfrm>
            <a:off x="713232" y="1920240"/>
            <a:ext cx="27432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Scenarios</a:t>
            </a:r>
            <a:endParaRPr lang="en-US" sz="1500" dirty="0"/>
          </a:p>
        </p:txBody>
      </p:sp>
      <p:sp>
        <p:nvSpPr>
          <p:cNvPr id="7" name="Text 5"/>
          <p:cNvSpPr/>
          <p:nvPr/>
        </p:nvSpPr>
        <p:spPr>
          <a:xfrm>
            <a:off x="713232" y="2249424"/>
            <a:ext cx="5760720" cy="3291840"/>
          </a:xfrm>
          <a:prstGeom prst="rect">
            <a:avLst/>
          </a:prstGeom>
          <a:noFill/>
          <a:ln/>
        </p:spPr>
        <p:txBody>
          <a:bodyPr wrap="square" lIns="0" tIns="0" rIns="0" bIns="0" rtlCol="0" anchor="t"/>
          <a:lstStyle/>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Resource Pool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Study the solution when the total number of workers or equipment units increases or decreases.</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Demand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Examine the effect of higher or lower terminal demand on the allocation.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Capacity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Study how changes in storage, handling time and equipment capacity affect the shipment selection.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 </a:t>
            </a:r>
            <a:endParaRPr lang="en-US" sz="1300" dirty="0"/>
          </a:p>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Cost and Priority Variation</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Analyze the impact of changes in the operational cost and the priority weights on the optimal solution.</a:t>
            </a:r>
            <a:endParaRPr lang="en-US" sz="1300" dirty="0"/>
          </a:p>
        </p:txBody>
      </p:sp>
      <p:sp>
        <p:nvSpPr>
          <p:cNvPr id="8" name="Text 6"/>
          <p:cNvSpPr/>
          <p:nvPr/>
        </p:nvSpPr>
        <p:spPr>
          <a:xfrm>
            <a:off x="6766560" y="1920240"/>
            <a:ext cx="2743200" cy="274320"/>
          </a:xfrm>
          <a:prstGeom prst="rect">
            <a:avLst/>
          </a:prstGeom>
          <a:noFill/>
          <a:ln/>
        </p:spPr>
        <p:txBody>
          <a:bodyPr wrap="square" lIns="0" tIns="0" rIns="0" bIns="0" rtlCol="0" anchor="ctr"/>
          <a:lstStyle/>
          <a:p>
            <a:pPr marL="0" indent="0">
              <a:buNone/>
            </a:pPr>
            <a:r>
              <a:rPr lang="en-US" sz="1500" b="1" dirty="0">
                <a:solidFill>
                  <a:srgbClr val="000000"/>
                </a:solidFill>
                <a:latin typeface="Georgia" pitchFamily="34" charset="0"/>
                <a:ea typeface="Georgia" pitchFamily="34" charset="-122"/>
                <a:cs typeface="Georgia" pitchFamily="34" charset="-120"/>
              </a:rPr>
              <a:t>What We Measure</a:t>
            </a:r>
            <a:endParaRPr lang="en-US" sz="1500" dirty="0"/>
          </a:p>
        </p:txBody>
      </p:sp>
      <p:sp>
        <p:nvSpPr>
          <p:cNvPr id="9" name="Text 7"/>
          <p:cNvSpPr/>
          <p:nvPr/>
        </p:nvSpPr>
        <p:spPr>
          <a:xfrm>
            <a:off x="6766560" y="2249424"/>
            <a:ext cx="4480560" cy="1737360"/>
          </a:xfrm>
          <a:prstGeom prst="rect">
            <a:avLst/>
          </a:prstGeom>
          <a:noFill/>
          <a:ln/>
        </p:spPr>
        <p:txBody>
          <a:bodyPr wrap="square" lIns="0" tIns="0" rIns="0" bIns="0" rtlCol="0" anchor="t"/>
          <a:lstStyle/>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Optimal allocation of workers and equipment per terminal</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Total throughput and total operational cost</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Shadow price of each resource</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Which constraints are binding</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Number of shipments processed, grouped by priority</a:t>
            </a:r>
            <a:endParaRPr lang="en-US" sz="1300" dirty="0"/>
          </a:p>
          <a:p>
            <a:pPr marL="152400" indent="-152400">
              <a:lnSpc>
                <a:spcPts val="1800"/>
              </a:lnSpc>
              <a:spcAft>
                <a:spcPts val="600"/>
              </a:spcAft>
              <a:buSzPct val="100000"/>
              <a:buChar char="•"/>
            </a:pPr>
            <a:r>
              <a:rPr lang="en-US" sz="1300" dirty="0">
                <a:solidFill>
                  <a:srgbClr val="000000"/>
                </a:solidFill>
                <a:latin typeface="Calibri" pitchFamily="34" charset="0"/>
                <a:ea typeface="Calibri" pitchFamily="34" charset="-122"/>
                <a:cs typeface="Calibri" pitchFamily="34" charset="-120"/>
              </a:rPr>
              <a:t>Utilization of each capacity</a:t>
            </a:r>
            <a:endParaRPr lang="en-US" sz="1300" dirty="0"/>
          </a:p>
        </p:txBody>
      </p:sp>
      <p:sp>
        <p:nvSpPr>
          <p:cNvPr id="10" name="Shape 8"/>
          <p:cNvSpPr/>
          <p:nvPr/>
        </p:nvSpPr>
        <p:spPr>
          <a:xfrm>
            <a:off x="6766560" y="4160520"/>
            <a:ext cx="4480560" cy="1371600"/>
          </a:xfrm>
          <a:prstGeom prst="rect">
            <a:avLst/>
          </a:prstGeom>
          <a:solidFill>
            <a:srgbClr val="F2F2F2"/>
          </a:solidFill>
          <a:ln w="9525">
            <a:solidFill>
              <a:srgbClr val="000000"/>
            </a:solidFill>
            <a:prstDash val="solid"/>
          </a:ln>
        </p:spPr>
      </p:sp>
      <p:sp>
        <p:nvSpPr>
          <p:cNvPr id="11" name="Text 9"/>
          <p:cNvSpPr/>
          <p:nvPr/>
        </p:nvSpPr>
        <p:spPr>
          <a:xfrm>
            <a:off x="6903720" y="4279392"/>
            <a:ext cx="4206240" cy="1143000"/>
          </a:xfrm>
          <a:prstGeom prst="rect">
            <a:avLst/>
          </a:prstGeom>
          <a:noFill/>
          <a:ln/>
        </p:spPr>
        <p:txBody>
          <a:bodyPr wrap="square" lIns="0" tIns="0" rIns="0" bIns="0" rtlCol="0" anchor="t"/>
          <a:lstStyle/>
          <a:p>
            <a:pPr marL="0" indent="0">
              <a:lnSpc>
                <a:spcPts val="1800"/>
              </a:lnSpc>
              <a:buNone/>
            </a:pPr>
            <a:r>
              <a:rPr lang="en-US" sz="1300" b="1" dirty="0">
                <a:solidFill>
                  <a:srgbClr val="000000"/>
                </a:solidFill>
                <a:latin typeface="Calibri" pitchFamily="34" charset="0"/>
                <a:ea typeface="Calibri" pitchFamily="34" charset="-122"/>
                <a:cs typeface="Calibri" pitchFamily="34" charset="-120"/>
              </a:rPr>
              <a:t>Goal</a:t>
            </a:r>
            <a:endParaRPr lang="en-US" sz="1300" dirty="0"/>
          </a:p>
          <a:p>
            <a:pPr marL="0" indent="0">
              <a:lnSpc>
                <a:spcPts val="1800"/>
              </a:lnSpc>
              <a:buNone/>
            </a:pPr>
            <a:r>
              <a:rPr lang="en-US" sz="1300" dirty="0">
                <a:solidFill>
                  <a:srgbClr val="000000"/>
                </a:solidFill>
                <a:latin typeface="Calibri" pitchFamily="34" charset="0"/>
                <a:ea typeface="Calibri" pitchFamily="34" charset="-122"/>
                <a:cs typeface="Calibri" pitchFamily="34" charset="-120"/>
              </a:rPr>
              <a:t>Identify how robust the optimal solution is and determine which resource has the greatest impact on the performance of the terminal.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11</a:t>
            </a:r>
            <a:endParaRPr lang="en-US" sz="1200" dirty="0"/>
          </a:p>
        </p:txBody>
      </p:sp>
      <p:sp>
        <p:nvSpPr>
          <p:cNvPr id="4" name="Text 2"/>
          <p:cNvSpPr/>
          <p:nvPr/>
        </p:nvSpPr>
        <p:spPr>
          <a:xfrm>
            <a:off x="640080" y="566928"/>
            <a:ext cx="10908792" cy="566928"/>
          </a:xfrm>
          <a:prstGeom prst="rect">
            <a:avLst/>
          </a:prstGeom>
          <a:noFill/>
          <a:ln/>
        </p:spPr>
        <p:txBody>
          <a:bodyPr wrap="square" lIns="0" tIns="0" rIns="0" bIns="0" rtlCol="0" anchor="ctr"/>
          <a:lstStyle/>
          <a:p>
            <a:pPr marL="0" indent="0" algn="ctr">
              <a:buNone/>
            </a:pPr>
            <a:r>
              <a:rPr lang="en-US" sz="3200" b="1" dirty="0">
                <a:solidFill>
                  <a:srgbClr val="000000"/>
                </a:solidFill>
                <a:latin typeface="Georgia" pitchFamily="34" charset="0"/>
                <a:ea typeface="Georgia" pitchFamily="34" charset="-122"/>
                <a:cs typeface="Georgia" pitchFamily="34" charset="-120"/>
              </a:rPr>
              <a:t>Expected Outcomes</a:t>
            </a:r>
            <a:endParaRPr lang="en-US" sz="3200" dirty="0"/>
          </a:p>
        </p:txBody>
      </p:sp>
      <p:sp>
        <p:nvSpPr>
          <p:cNvPr id="5" name="Text 3"/>
          <p:cNvSpPr/>
          <p:nvPr/>
        </p:nvSpPr>
        <p:spPr>
          <a:xfrm>
            <a:off x="713232" y="1463040"/>
            <a:ext cx="10762488" cy="4526280"/>
          </a:xfrm>
          <a:prstGeom prst="rect">
            <a:avLst/>
          </a:prstGeom>
          <a:noFill/>
          <a:ln/>
        </p:spPr>
        <p:txBody>
          <a:bodyPr wrap="square" lIns="0" tIns="0" rIns="0" bIns="0" rtlCol="0" anchor="t"/>
          <a:lstStyle/>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Optimal number of workers and equipment units for each of the four terminals.</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 resource allocation plan that meets the terminal demand at a lower operational cost.</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The shadow price of each resource, showing which resource is limiting the terminal.</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The best set of shipments to process in a given time window under limited capacity.</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Comparison of both models against the present allocation and first-come-first-served processing.</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Analysis of the effect of changing the resource pool, demand and capacity on the solutions.</a:t>
            </a:r>
            <a:endParaRPr lang="en-US" sz="1550" dirty="0"/>
          </a:p>
          <a:p>
            <a:pPr marL="152400" indent="-152400">
              <a:lnSpc>
                <a:spcPts val="2200"/>
              </a:lnSpc>
              <a:spcAft>
                <a:spcPts val="1000"/>
              </a:spcAft>
              <a:buSzPct val="100000"/>
              <a:buChar char="•"/>
            </a:pPr>
            <a:r>
              <a:rPr lang="en-US" sz="1550" dirty="0">
                <a:solidFill>
                  <a:srgbClr val="000000"/>
                </a:solidFill>
                <a:latin typeface="Calibri" pitchFamily="34" charset="0"/>
                <a:ea typeface="Calibri" pitchFamily="34" charset="-122"/>
                <a:cs typeface="Calibri" pitchFamily="34" charset="-120"/>
              </a:rPr>
              <a:t>An interactive decision-support interface for exploring different terminal scenarios.</a:t>
            </a:r>
            <a:endParaRPr lang="en-US" sz="1550" dirty="0"/>
          </a:p>
        </p:txBody>
      </p:sp>
      <p:sp>
        <p:nvSpPr>
          <p:cNvPr id="6" name="Text 4"/>
          <p:cNvSpPr/>
          <p:nvPr/>
        </p:nvSpPr>
        <p:spPr>
          <a:xfrm>
            <a:off x="713232" y="5623560"/>
            <a:ext cx="10762488" cy="365760"/>
          </a:xfrm>
          <a:prstGeom prst="rect">
            <a:avLst/>
          </a:prstGeom>
          <a:noFill/>
          <a:ln/>
        </p:spPr>
        <p:txBody>
          <a:bodyPr wrap="square" lIns="0" tIns="0" rIns="0" bIns="0" rtlCol="0" anchor="t"/>
          <a:lstStyle/>
          <a:p>
            <a:pPr marL="0" indent="0">
              <a:lnSpc>
                <a:spcPts val="1900"/>
              </a:lnSpc>
              <a:buNone/>
            </a:pP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411480"/>
            <a:ext cx="11274552" cy="6035040"/>
          </a:xfrm>
          <a:prstGeom prst="rect">
            <a:avLst/>
          </a:prstGeom>
          <a:solidFill>
            <a:srgbClr val="FFFFFF"/>
          </a:solidFill>
          <a:ln w="9525">
            <a:solidFill>
              <a:srgbClr val="000000"/>
            </a:solidFill>
            <a:prstDash val="solid"/>
          </a:ln>
        </p:spPr>
      </p:sp>
      <p:sp>
        <p:nvSpPr>
          <p:cNvPr id="3" name="Text 1"/>
          <p:cNvSpPr/>
          <p:nvPr/>
        </p:nvSpPr>
        <p:spPr>
          <a:xfrm>
            <a:off x="10725912" y="6062472"/>
            <a:ext cx="822960" cy="274320"/>
          </a:xfrm>
          <a:prstGeom prst="rect">
            <a:avLst/>
          </a:prstGeom>
          <a:noFill/>
          <a:ln/>
        </p:spPr>
        <p:txBody>
          <a:bodyPr wrap="square" lIns="0" tIns="0" rIns="0" bIns="0" rtlCol="0" anchor="ctr"/>
          <a:lstStyle/>
          <a:p>
            <a:pPr marL="0" indent="0" algn="r">
              <a:buNone/>
            </a:pPr>
            <a:r>
              <a:rPr lang="en-US" sz="1200" b="1" dirty="0">
                <a:solidFill>
                  <a:srgbClr val="000000"/>
                </a:solidFill>
                <a:latin typeface="Calibri" pitchFamily="34" charset="0"/>
                <a:ea typeface="Calibri" pitchFamily="34" charset="-122"/>
                <a:cs typeface="Calibri" pitchFamily="34" charset="-120"/>
              </a:rPr>
              <a:t>12</a:t>
            </a:r>
            <a:endParaRPr lang="en-US" sz="1200" dirty="0"/>
          </a:p>
        </p:txBody>
      </p:sp>
      <p:sp>
        <p:nvSpPr>
          <p:cNvPr id="4" name="Text 2"/>
          <p:cNvSpPr/>
          <p:nvPr/>
        </p:nvSpPr>
        <p:spPr>
          <a:xfrm>
            <a:off x="457200" y="2834640"/>
            <a:ext cx="11274552" cy="822960"/>
          </a:xfrm>
          <a:prstGeom prst="rect">
            <a:avLst/>
          </a:prstGeom>
          <a:noFill/>
          <a:ln/>
        </p:spPr>
        <p:txBody>
          <a:bodyPr wrap="square" lIns="0" tIns="0" rIns="0" bIns="0" rtlCol="0" anchor="ctr"/>
          <a:lstStyle/>
          <a:p>
            <a:pPr marL="0" indent="0" algn="ctr">
              <a:buNone/>
            </a:pPr>
            <a:r>
              <a:rPr lang="en-US" sz="4000" b="1" i="1" dirty="0">
                <a:solidFill>
                  <a:srgbClr val="000000"/>
                </a:solidFill>
                <a:latin typeface="Georgia" pitchFamily="34" charset="0"/>
                <a:ea typeface="Georgia" pitchFamily="34" charset="-122"/>
                <a:cs typeface="Georgia" pitchFamily="34" charset="-120"/>
              </a:rPr>
              <a:t>Thank You</a:t>
            </a:r>
            <a:endParaRPr lang="en-US" sz="4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891</TotalTime>
  <Words>1876</Words>
  <Application>Microsoft Office PowerPoint</Application>
  <PresentationFormat>Widescreen</PresentationFormat>
  <Paragraphs>254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Satya Karthikeya</cp:lastModifiedBy>
  <cp:revision>10</cp:revision>
  <dcterms:created xsi:type="dcterms:W3CDTF">2026-08-26T17:53:39Z</dcterms:created>
  <dcterms:modified xsi:type="dcterms:W3CDTF">2026-08-27T09:03:18Z</dcterms:modified>
</cp:coreProperties>
</file>