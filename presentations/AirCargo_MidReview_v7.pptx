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2575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Karthikeya – opens with the title, the team and the project name.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Karthikeya – why the problem exists and why OR is needed.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Karthikeya – read the statement, then the four questions the dataset must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Karthik Reddy – six objectives, two of which are the two optimization models.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Karthik Reddy – show the dataset, the column groups, and which columns feed which model. Mention the uniformity note yourself.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Karthik Reddy – walk left to right through the six stages, then explain how the two models sit on the same data layer.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P. Satya Karthikeya – tools and what each one is used for. PuLP builds the model, CBC solves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P. Satya Karthikeya – LP model. Continuous variables, six constraint groups, soft demand constraint so the model never turns infeasible.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Rohith – IP model. Binary variables, three capacity constraints, so it is a 0-1 multi-knapsack problem.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Rohith – four scenarios, what is measured in each, and why the shadow price is the most useful output.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Rohith – close on what the review panel should expect in the final presentation.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65826" y="420106"/>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1</a:t>
            </a:r>
            <a:endParaRPr lang="en-US" sz="1200" dirty="0"/>
          </a:p>
        </p:txBody>
      </p:sp>
      <p:pic>
        <p:nvPicPr>
          <p:cNvPr id="4" name="Image 0" descr="logo.png"/>
          <p:cNvPicPr>
            <a:picLocks noChangeAspect="1"/>
          </p:cNvPicPr>
          <p:nvPr/>
        </p:nvPicPr>
        <p:blipFill>
          <a:blip r:embed="rId3"/>
          <a:stretch>
            <a:fillRect/>
          </a:stretch>
        </p:blipFill>
        <p:spPr>
          <a:xfrm>
            <a:off x="3913632" y="777240"/>
            <a:ext cx="4370832" cy="764438"/>
          </a:xfrm>
          <a:prstGeom prst="rect">
            <a:avLst/>
          </a:prstGeom>
        </p:spPr>
      </p:pic>
      <p:sp>
        <p:nvSpPr>
          <p:cNvPr id="5" name="Text 2"/>
          <p:cNvSpPr/>
          <p:nvPr/>
        </p:nvSpPr>
        <p:spPr>
          <a:xfrm>
            <a:off x="1097280" y="1938528"/>
            <a:ext cx="9994392" cy="731520"/>
          </a:xfrm>
          <a:prstGeom prst="rect">
            <a:avLst/>
          </a:prstGeom>
          <a:noFill/>
          <a:ln/>
        </p:spPr>
        <p:txBody>
          <a:bodyPr wrap="square" lIns="0" tIns="0" rIns="0" bIns="0" rtlCol="0" anchor="ctr"/>
          <a:lstStyle/>
          <a:p>
            <a:pPr marL="0" indent="0" algn="ctr">
              <a:buNone/>
            </a:pPr>
            <a:r>
              <a:rPr lang="en-US" sz="2700" b="1" dirty="0">
                <a:solidFill>
                  <a:srgbClr val="000000"/>
                </a:solidFill>
                <a:latin typeface="Georgia" pitchFamily="34" charset="0"/>
                <a:ea typeface="Georgia" pitchFamily="34" charset="-122"/>
                <a:cs typeface="Georgia" pitchFamily="34" charset="-120"/>
              </a:rPr>
              <a:t>Air Cargo Resource Allocation And Operational Optimizer</a:t>
            </a:r>
            <a:endParaRPr lang="en-US" sz="2700" dirty="0"/>
          </a:p>
        </p:txBody>
      </p:sp>
      <p:sp>
        <p:nvSpPr>
          <p:cNvPr id="6" name="Text 3"/>
          <p:cNvSpPr/>
          <p:nvPr/>
        </p:nvSpPr>
        <p:spPr>
          <a:xfrm>
            <a:off x="1097280" y="2761488"/>
            <a:ext cx="9994392" cy="310896"/>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Course: </a:t>
            </a:r>
            <a:r>
              <a:rPr lang="en-US" sz="1700" dirty="0">
                <a:solidFill>
                  <a:srgbClr val="000000"/>
                </a:solidFill>
                <a:latin typeface="Calibri" pitchFamily="34" charset="0"/>
                <a:ea typeface="Calibri" pitchFamily="34" charset="-122"/>
                <a:cs typeface="Calibri" pitchFamily="34" charset="-120"/>
              </a:rPr>
              <a:t>23MNG336 Operations Research</a:t>
            </a:r>
            <a:endParaRPr lang="en-US" sz="1700" dirty="0"/>
          </a:p>
        </p:txBody>
      </p:sp>
      <p:sp>
        <p:nvSpPr>
          <p:cNvPr id="7" name="Text 4"/>
          <p:cNvSpPr/>
          <p:nvPr/>
        </p:nvSpPr>
        <p:spPr>
          <a:xfrm>
            <a:off x="1097280" y="3127248"/>
            <a:ext cx="9994392" cy="310896"/>
          </a:xfrm>
          <a:prstGeom prst="rect">
            <a:avLst/>
          </a:prstGeom>
          <a:noFill/>
          <a:ln/>
        </p:spPr>
        <p:txBody>
          <a:bodyPr wrap="square" lIns="0" tIns="0" rIns="0" bIns="0" rtlCol="0" anchor="ctr"/>
          <a:lstStyle/>
          <a:p>
            <a:pPr marL="0" indent="0" algn="ctr">
              <a:buNone/>
            </a:pPr>
            <a:r>
              <a:rPr lang="en-US" sz="1700" b="1" dirty="0">
                <a:solidFill>
                  <a:srgbClr val="000000"/>
                </a:solidFill>
                <a:latin typeface="Georgia" pitchFamily="34" charset="0"/>
                <a:ea typeface="Georgia" pitchFamily="34" charset="-122"/>
                <a:cs typeface="Georgia" pitchFamily="34" charset="-120"/>
              </a:rPr>
              <a:t>Mid Review</a:t>
            </a:r>
            <a:endParaRPr lang="en-US" sz="1700" dirty="0"/>
          </a:p>
        </p:txBody>
      </p:sp>
      <p:sp>
        <p:nvSpPr>
          <p:cNvPr id="8" name="Text 5"/>
          <p:cNvSpPr/>
          <p:nvPr/>
        </p:nvSpPr>
        <p:spPr>
          <a:xfrm>
            <a:off x="1097280" y="3675888"/>
            <a:ext cx="9994392" cy="1828800"/>
          </a:xfrm>
          <a:prstGeom prst="rect">
            <a:avLst/>
          </a:prstGeom>
          <a:noFill/>
          <a:ln/>
        </p:spPr>
        <p:txBody>
          <a:bodyPr wrap="square" lIns="0" tIns="0" rIns="0" bIns="0" rtlCol="0" anchor="t"/>
          <a:lstStyle/>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Student Details:</a:t>
            </a:r>
            <a:endParaRPr lang="en-US" sz="1500" dirty="0"/>
          </a:p>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B. Karthikeya – CB.AI.U4AID23109</a:t>
            </a:r>
            <a:endParaRPr lang="en-US" sz="1500" dirty="0"/>
          </a:p>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M. Karthik Reddy – CB.AI.U4AID23123</a:t>
            </a:r>
            <a:endParaRPr lang="en-US" sz="1500" dirty="0"/>
          </a:p>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P. P. Satya Karthikeya – CB.AI.U4AID23128</a:t>
            </a:r>
            <a:endParaRPr lang="en-US" sz="1500" dirty="0"/>
          </a:p>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P. Rohith – CB.AI.U4AID23131</a:t>
            </a:r>
            <a:endParaRPr lang="en-US" sz="1500" dirty="0"/>
          </a:p>
          <a:p>
            <a:pPr marL="0" indent="0" algn="ctr">
              <a:lnSpc>
                <a:spcPts val="2200"/>
              </a:lnSpc>
              <a:buNone/>
            </a:pPr>
            <a:endParaRPr lang="en-US" sz="1500" dirty="0"/>
          </a:p>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Team Number: AB07</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2</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Introduction</a:t>
            </a:r>
            <a:endParaRPr lang="en-US" sz="3200" dirty="0"/>
          </a:p>
        </p:txBody>
      </p:sp>
      <p:sp>
        <p:nvSpPr>
          <p:cNvPr id="5" name="Text 3"/>
          <p:cNvSpPr/>
          <p:nvPr/>
        </p:nvSpPr>
        <p:spPr>
          <a:xfrm>
            <a:off x="713232" y="1463040"/>
            <a:ext cx="10762488" cy="4526280"/>
          </a:xfrm>
          <a:prstGeom prst="rect">
            <a:avLst/>
          </a:prstGeom>
          <a:noFill/>
          <a:ln/>
        </p:spPr>
        <p:txBody>
          <a:bodyPr wrap="square" lIns="0" tIns="0" rIns="0" bIns="0" rtlCol="0" anchor="t"/>
          <a:lstStyle/>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Air cargo terminals have to handle every incoming shipment using a limited number of workers and a limited amount of ground equipment.</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If workers and equipment are not distributed properly across the terminals, some terminals become congested while others stay under-used.</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All the waiting cargo cannot be processed at the same time, so the terminal also has to decide which shipments should be handled in the current time window.</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Processing shipments in simple arrival order ignores priority, waiting time and queue length, which delays critical and time sensitive cargo.</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This motivates the use of Operations Research and mathematical optimization to decide the resource allocation and the shipment selection while balancing throughput, operational cost and available capacity.</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Problem Statement</a:t>
            </a:r>
            <a:endParaRPr lang="en-US" sz="3200" dirty="0"/>
          </a:p>
        </p:txBody>
      </p:sp>
      <p:sp>
        <p:nvSpPr>
          <p:cNvPr id="5" name="Text 3"/>
          <p:cNvSpPr/>
          <p:nvPr/>
        </p:nvSpPr>
        <p:spPr>
          <a:xfrm>
            <a:off x="713232" y="1481328"/>
            <a:ext cx="10762488" cy="1005840"/>
          </a:xfrm>
          <a:prstGeom prst="rect">
            <a:avLst/>
          </a:prstGeom>
          <a:noFill/>
          <a:ln/>
        </p:spPr>
        <p:txBody>
          <a:bodyPr wrap="square" lIns="0" tIns="0" rIns="0" bIns="0" rtlCol="0" anchor="t"/>
          <a:lstStyle/>
          <a:p>
            <a:pPr marL="0" indent="0">
              <a:lnSpc>
                <a:spcPts val="2500"/>
              </a:lnSpc>
              <a:buNone/>
            </a:pPr>
            <a:r>
              <a:rPr lang="en-US" sz="1700" dirty="0">
                <a:solidFill>
                  <a:srgbClr val="000000"/>
                </a:solidFill>
                <a:latin typeface="Calibri" pitchFamily="34" charset="0"/>
                <a:ea typeface="Calibri" pitchFamily="34" charset="-122"/>
                <a:cs typeface="Calibri" pitchFamily="34" charset="-120"/>
              </a:rPr>
              <a:t>How can a limited workforce and limited equipment be allocated across the terminals of an air cargo facility, and which shipments should be processed in the current time window, so that throughput is maximized, while respecting the available capacity?</a:t>
            </a:r>
            <a:endParaRPr lang="en-US" sz="1700" dirty="0"/>
          </a:p>
        </p:txBody>
      </p:sp>
      <p:sp>
        <p:nvSpPr>
          <p:cNvPr id="6" name="Text 4"/>
          <p:cNvSpPr/>
          <p:nvPr/>
        </p:nvSpPr>
        <p:spPr>
          <a:xfrm>
            <a:off x="713232" y="2606040"/>
            <a:ext cx="10762488" cy="3108960"/>
          </a:xfrm>
          <a:prstGeom prst="rect">
            <a:avLst/>
          </a:prstGeom>
          <a:noFill/>
          <a:ln/>
        </p:spPr>
        <p:txBody>
          <a:bodyPr wrap="square" lIns="0" tIns="0" rIns="0" bIns="0" rtlCol="0" anchor="t"/>
          <a:lstStyle/>
          <a:p>
            <a:pPr marL="0" indent="0">
              <a:lnSpc>
                <a:spcPts val="2300"/>
              </a:lnSpc>
              <a:spcAft>
                <a:spcPts val="1200"/>
              </a:spcAft>
              <a:buNone/>
            </a:pPr>
            <a:r>
              <a:rPr lang="en-US" sz="1600" b="1" dirty="0">
                <a:solidFill>
                  <a:srgbClr val="000000"/>
                </a:solidFill>
                <a:latin typeface="Calibri" pitchFamily="34" charset="0"/>
                <a:ea typeface="Calibri" pitchFamily="34" charset="-122"/>
                <a:cs typeface="Calibri" pitchFamily="34" charset="-120"/>
              </a:rPr>
              <a:t>Q1: </a:t>
            </a:r>
            <a:r>
              <a:rPr lang="en-US" sz="1600" dirty="0">
                <a:solidFill>
                  <a:srgbClr val="000000"/>
                </a:solidFill>
                <a:latin typeface="Calibri" pitchFamily="34" charset="0"/>
                <a:ea typeface="Calibri" pitchFamily="34" charset="-122"/>
                <a:cs typeface="Calibri" pitchFamily="34" charset="-120"/>
              </a:rPr>
              <a:t>How many workers and how many equipment units should be assigned to each terminal?</a:t>
            </a:r>
            <a:endParaRPr lang="en-US" sz="1600" dirty="0"/>
          </a:p>
          <a:p>
            <a:pPr marL="0" indent="0">
              <a:lnSpc>
                <a:spcPts val="2300"/>
              </a:lnSpc>
              <a:spcAft>
                <a:spcPts val="1200"/>
              </a:spcAft>
              <a:buNone/>
            </a:pPr>
            <a:r>
              <a:rPr lang="en-US" sz="1600" b="1" dirty="0">
                <a:solidFill>
                  <a:srgbClr val="000000"/>
                </a:solidFill>
                <a:latin typeface="Calibri" pitchFamily="34" charset="0"/>
                <a:ea typeface="Calibri" pitchFamily="34" charset="-122"/>
                <a:cs typeface="Calibri" pitchFamily="34" charset="-120"/>
              </a:rPr>
              <a:t>Q2: </a:t>
            </a:r>
            <a:r>
              <a:rPr lang="en-US" sz="1600" dirty="0">
                <a:solidFill>
                  <a:srgbClr val="000000"/>
                </a:solidFill>
                <a:latin typeface="Calibri" pitchFamily="34" charset="0"/>
                <a:ea typeface="Calibri" pitchFamily="34" charset="-122"/>
                <a:cs typeface="Calibri" pitchFamily="34" charset="-120"/>
              </a:rPr>
              <a:t>Which resource is limiting the terminal, and how much extra throughput would one more unit of that resource give?</a:t>
            </a:r>
            <a:endParaRPr lang="en-US" sz="1600" dirty="0"/>
          </a:p>
          <a:p>
            <a:pPr marL="0" indent="0">
              <a:lnSpc>
                <a:spcPts val="2300"/>
              </a:lnSpc>
              <a:spcAft>
                <a:spcPts val="1200"/>
              </a:spcAft>
              <a:buNone/>
            </a:pPr>
            <a:r>
              <a:rPr lang="en-US" sz="1600" b="1" dirty="0">
                <a:solidFill>
                  <a:srgbClr val="000000"/>
                </a:solidFill>
                <a:latin typeface="Calibri" pitchFamily="34" charset="0"/>
                <a:ea typeface="Calibri" pitchFamily="34" charset="-122"/>
                <a:cs typeface="Calibri" pitchFamily="34" charset="-120"/>
              </a:rPr>
              <a:t>Q3: </a:t>
            </a:r>
            <a:r>
              <a:rPr lang="en-US" sz="1600" dirty="0">
                <a:solidFill>
                  <a:srgbClr val="000000"/>
                </a:solidFill>
                <a:latin typeface="Calibri" pitchFamily="34" charset="0"/>
                <a:ea typeface="Calibri" pitchFamily="34" charset="-122"/>
                <a:cs typeface="Calibri" pitchFamily="34" charset="-120"/>
              </a:rPr>
              <a:t>When the capacity is not enough for all the waiting cargo, which shipments should be processed first?</a:t>
            </a:r>
            <a:endParaRPr lang="en-US" sz="1600" dirty="0"/>
          </a:p>
          <a:p>
            <a:pPr marL="0" indent="0">
              <a:lnSpc>
                <a:spcPts val="2300"/>
              </a:lnSpc>
              <a:spcAft>
                <a:spcPts val="1200"/>
              </a:spcAft>
              <a:buNone/>
            </a:pPr>
            <a:r>
              <a:rPr lang="en-US" sz="1600" b="1" dirty="0">
                <a:solidFill>
                  <a:srgbClr val="000000"/>
                </a:solidFill>
                <a:latin typeface="Calibri" pitchFamily="34" charset="0"/>
                <a:ea typeface="Calibri" pitchFamily="34" charset="-122"/>
                <a:cs typeface="Calibri" pitchFamily="34" charset="-120"/>
              </a:rPr>
              <a:t>Q4: </a:t>
            </a:r>
            <a:r>
              <a:rPr lang="en-US" sz="1600" dirty="0">
                <a:solidFill>
                  <a:srgbClr val="000000"/>
                </a:solidFill>
                <a:latin typeface="Calibri" pitchFamily="34" charset="0"/>
                <a:ea typeface="Calibri" pitchFamily="34" charset="-122"/>
                <a:cs typeface="Calibri" pitchFamily="34" charset="-120"/>
              </a:rPr>
              <a:t>How much better are these optimized decisions compared to the allocation and the first-come-first-served processing that is followed at present?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4</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Objectives</a:t>
            </a:r>
            <a:endParaRPr lang="en-US" sz="3200" dirty="0"/>
          </a:p>
        </p:txBody>
      </p:sp>
      <p:sp>
        <p:nvSpPr>
          <p:cNvPr id="5" name="Text 3"/>
          <p:cNvSpPr/>
          <p:nvPr/>
        </p:nvSpPr>
        <p:spPr>
          <a:xfrm>
            <a:off x="786384" y="1823710"/>
            <a:ext cx="10762488" cy="3548907"/>
          </a:xfrm>
          <a:prstGeom prst="rect">
            <a:avLst/>
          </a:prstGeom>
          <a:noFill/>
          <a:ln/>
        </p:spPr>
        <p:txBody>
          <a:bodyPr wrap="square" lIns="0" tIns="0" rIns="0" bIns="0" rtlCol="0" anchor="t"/>
          <a:lstStyle/>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Analyze the air cargo terminal data to identify resource usage and demand patterns across the four terminals.</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Determine the optimal workforce and equipment allocation for each terminal using a Linear Programming model.</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Select the best set of shipments to process under limited capacity using a 0-1 Integer Programming model.</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Perform sensitivity analysis to study how changes in the resource pool, demand and capacity affect the optimization solutions.</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Develop an interactive decision support interface that allows the user to explore the dataset and run either optimization model.</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Dataset</a:t>
            </a:r>
            <a:endParaRPr lang="en-US" sz="3200" dirty="0"/>
          </a:p>
        </p:txBody>
      </p:sp>
      <p:sp>
        <p:nvSpPr>
          <p:cNvPr id="5" name="Text 3"/>
          <p:cNvSpPr/>
          <p:nvPr/>
        </p:nvSpPr>
        <p:spPr>
          <a:xfrm>
            <a:off x="713232" y="1463040"/>
            <a:ext cx="5120640" cy="1097280"/>
          </a:xfrm>
          <a:prstGeom prst="rect">
            <a:avLst/>
          </a:prstGeom>
          <a:noFill/>
          <a:ln/>
        </p:spPr>
        <p:txBody>
          <a:bodyPr wrap="square" lIns="0" tIns="0" rIns="0" bIns="0" rtlCol="0" anchor="t"/>
          <a:lstStyle/>
          <a:p>
            <a:pPr marL="0" indent="0">
              <a:lnSpc>
                <a:spcPts val="2100"/>
              </a:lnSpc>
              <a:buNone/>
            </a:pPr>
            <a:r>
              <a:rPr lang="en-US" sz="1450" b="1" dirty="0">
                <a:solidFill>
                  <a:srgbClr val="000000"/>
                </a:solidFill>
                <a:latin typeface="Calibri" pitchFamily="34" charset="0"/>
                <a:ea typeface="Calibri" pitchFamily="34" charset="-122"/>
                <a:cs typeface="Calibri" pitchFamily="34" charset="-120"/>
              </a:rPr>
              <a:t>Dataset: </a:t>
            </a:r>
            <a:r>
              <a:rPr lang="en-US" sz="1450" dirty="0">
                <a:solidFill>
                  <a:srgbClr val="000000"/>
                </a:solidFill>
                <a:latin typeface="Calibri" pitchFamily="34" charset="0"/>
                <a:ea typeface="Calibri" pitchFamily="34" charset="-122"/>
                <a:cs typeface="Calibri" pitchFamily="34" charset="-120"/>
              </a:rPr>
              <a:t>Air Cargo Resource Allocation Dataset  (Kaggle, CC0 / Public Domain)</a:t>
            </a:r>
            <a:endParaRPr lang="en-US" sz="1450" dirty="0"/>
          </a:p>
          <a:p>
            <a:pPr marL="0" indent="0">
              <a:lnSpc>
                <a:spcPts val="2100"/>
              </a:lnSpc>
              <a:buNone/>
            </a:pPr>
            <a:r>
              <a:rPr lang="en-US" sz="1450" b="1" dirty="0">
                <a:solidFill>
                  <a:srgbClr val="000000"/>
                </a:solidFill>
                <a:latin typeface="Calibri" pitchFamily="34" charset="0"/>
                <a:ea typeface="Calibri" pitchFamily="34" charset="-122"/>
                <a:cs typeface="Calibri" pitchFamily="34" charset="-120"/>
              </a:rPr>
              <a:t>Records: </a:t>
            </a:r>
            <a:r>
              <a:rPr lang="en-US" sz="1450" dirty="0">
                <a:solidFill>
                  <a:srgbClr val="000000"/>
                </a:solidFill>
                <a:latin typeface="Calibri" pitchFamily="34" charset="0"/>
                <a:ea typeface="Calibri" pitchFamily="34" charset="-122"/>
                <a:cs typeface="Calibri" pitchFamily="34" charset="-120"/>
              </a:rPr>
              <a:t>5,000 shipment handling records</a:t>
            </a:r>
            <a:endParaRPr lang="en-US" sz="1450" dirty="0"/>
          </a:p>
          <a:p>
            <a:pPr marL="0" indent="0">
              <a:lnSpc>
                <a:spcPts val="2100"/>
              </a:lnSpc>
              <a:buNone/>
            </a:pPr>
            <a:r>
              <a:rPr lang="en-US" sz="1450" b="1" dirty="0">
                <a:solidFill>
                  <a:srgbClr val="000000"/>
                </a:solidFill>
                <a:latin typeface="Calibri" pitchFamily="34" charset="0"/>
                <a:ea typeface="Calibri" pitchFamily="34" charset="-122"/>
                <a:cs typeface="Calibri" pitchFamily="34" charset="-120"/>
              </a:rPr>
              <a:t>Year: </a:t>
            </a:r>
            <a:r>
              <a:rPr lang="en-US" sz="1450" dirty="0">
                <a:solidFill>
                  <a:srgbClr val="000000"/>
                </a:solidFill>
                <a:latin typeface="Calibri" pitchFamily="34" charset="0"/>
                <a:ea typeface="Calibri" pitchFamily="34" charset="-122"/>
                <a:cs typeface="Calibri" pitchFamily="34" charset="-120"/>
              </a:rPr>
              <a:t>2024        </a:t>
            </a:r>
            <a:r>
              <a:rPr lang="en-US" sz="1450" b="1" dirty="0">
                <a:solidFill>
                  <a:srgbClr val="000000"/>
                </a:solidFill>
                <a:latin typeface="Calibri" pitchFamily="34" charset="0"/>
                <a:ea typeface="Calibri" pitchFamily="34" charset="-122"/>
                <a:cs typeface="Calibri" pitchFamily="34" charset="-120"/>
              </a:rPr>
              <a:t>Features: </a:t>
            </a:r>
            <a:r>
              <a:rPr lang="en-US" sz="1450" dirty="0">
                <a:solidFill>
                  <a:srgbClr val="000000"/>
                </a:solidFill>
                <a:latin typeface="Calibri" pitchFamily="34" charset="0"/>
                <a:ea typeface="Calibri" pitchFamily="34" charset="-122"/>
                <a:cs typeface="Calibri" pitchFamily="34" charset="-120"/>
              </a:rPr>
              <a:t>28 variables        </a:t>
            </a:r>
            <a:r>
              <a:rPr lang="en-US" sz="1450" b="1" dirty="0">
                <a:solidFill>
                  <a:srgbClr val="000000"/>
                </a:solidFill>
                <a:latin typeface="Calibri" pitchFamily="34" charset="0"/>
                <a:ea typeface="Calibri" pitchFamily="34" charset="-122"/>
                <a:cs typeface="Calibri" pitchFamily="34" charset="-120"/>
              </a:rPr>
              <a:t>Terminals: </a:t>
            </a:r>
            <a:r>
              <a:rPr lang="en-US" sz="1450" dirty="0">
                <a:solidFill>
                  <a:srgbClr val="000000"/>
                </a:solidFill>
                <a:latin typeface="Calibri" pitchFamily="34" charset="0"/>
                <a:ea typeface="Calibri" pitchFamily="34" charset="-122"/>
                <a:cs typeface="Calibri" pitchFamily="34" charset="-120"/>
              </a:rPr>
              <a:t>4  (T1 – T4)</a:t>
            </a:r>
            <a:endParaRPr lang="en-US" sz="1450" dirty="0"/>
          </a:p>
        </p:txBody>
      </p:sp>
      <p:sp>
        <p:nvSpPr>
          <p:cNvPr id="6" name="Text 4"/>
          <p:cNvSpPr/>
          <p:nvPr/>
        </p:nvSpPr>
        <p:spPr>
          <a:xfrm>
            <a:off x="713232" y="2606040"/>
            <a:ext cx="5120640" cy="256032"/>
          </a:xfrm>
          <a:prstGeom prst="rect">
            <a:avLst/>
          </a:prstGeom>
          <a:noFill/>
          <a:ln/>
        </p:spPr>
        <p:txBody>
          <a:bodyPr wrap="square" lIns="0" tIns="0" rIns="0" bIns="0" rtlCol="0" anchor="ctr"/>
          <a:lstStyle/>
          <a:p>
            <a:pPr marL="0" indent="0">
              <a:buNone/>
            </a:pPr>
            <a:r>
              <a:rPr lang="en-US" sz="1400" b="1" dirty="0">
                <a:solidFill>
                  <a:srgbClr val="000000"/>
                </a:solidFill>
                <a:latin typeface="Georgia" pitchFamily="34" charset="0"/>
                <a:ea typeface="Georgia" pitchFamily="34" charset="-122"/>
                <a:cs typeface="Georgia" pitchFamily="34" charset="-120"/>
              </a:rPr>
              <a:t>Why This Dataset?</a:t>
            </a:r>
            <a:endParaRPr lang="en-US" sz="1400" dirty="0"/>
          </a:p>
        </p:txBody>
      </p:sp>
      <p:sp>
        <p:nvSpPr>
          <p:cNvPr id="7" name="Text 5"/>
          <p:cNvSpPr/>
          <p:nvPr/>
        </p:nvSpPr>
        <p:spPr>
          <a:xfrm>
            <a:off x="713232" y="2926080"/>
            <a:ext cx="5120640" cy="1828800"/>
          </a:xfrm>
          <a:prstGeom prst="rect">
            <a:avLst/>
          </a:prstGeom>
          <a:noFill/>
          <a:ln/>
        </p:spPr>
        <p:txBody>
          <a:bodyPr wrap="square" lIns="0" tIns="0" rIns="0" bIns="0" rtlCol="0" anchor="t"/>
          <a:lstStyle/>
          <a:p>
            <a:pPr marL="152400" indent="-152400">
              <a:lnSpc>
                <a:spcPts val="18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Provides real operational data of an air cargo terminal.</a:t>
            </a:r>
            <a:endParaRPr lang="en-US" sz="1350" dirty="0"/>
          </a:p>
          <a:p>
            <a:pPr marL="152400" indent="-152400">
              <a:lnSpc>
                <a:spcPts val="18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Contains the resource, capacity and performance information needed for allocation decisions.</a:t>
            </a:r>
            <a:endParaRPr lang="en-US" sz="1350" dirty="0"/>
          </a:p>
          <a:p>
            <a:pPr marL="152400" indent="-152400">
              <a:lnSpc>
                <a:spcPts val="18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Allows us to study the relation between workforce, equipment, congestion and throughput.</a:t>
            </a:r>
            <a:endParaRPr lang="en-US" sz="1350" dirty="0"/>
          </a:p>
          <a:p>
            <a:pPr marL="152400" indent="-152400">
              <a:lnSpc>
                <a:spcPts val="18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Provides a basis for developing resource allocation and shipment selection optimization models.</a:t>
            </a:r>
            <a:endParaRPr lang="en-US" sz="1350" dirty="0"/>
          </a:p>
        </p:txBody>
      </p:sp>
      <p:sp>
        <p:nvSpPr>
          <p:cNvPr id="8" name="Shape 6"/>
          <p:cNvSpPr/>
          <p:nvPr/>
        </p:nvSpPr>
        <p:spPr>
          <a:xfrm>
            <a:off x="6144768" y="1463040"/>
            <a:ext cx="5330952" cy="1920240"/>
          </a:xfrm>
          <a:prstGeom prst="rect">
            <a:avLst/>
          </a:prstGeom>
          <a:solidFill>
            <a:srgbClr val="F2F2F2"/>
          </a:solidFill>
          <a:ln w="9525">
            <a:solidFill>
              <a:srgbClr val="000000"/>
            </a:solidFill>
            <a:prstDash val="solid"/>
          </a:ln>
        </p:spPr>
      </p:sp>
      <p:sp>
        <p:nvSpPr>
          <p:cNvPr id="9" name="Text 7"/>
          <p:cNvSpPr/>
          <p:nvPr/>
        </p:nvSpPr>
        <p:spPr>
          <a:xfrm>
            <a:off x="6327648" y="1600200"/>
            <a:ext cx="4965192" cy="1645920"/>
          </a:xfrm>
          <a:prstGeom prst="rect">
            <a:avLst/>
          </a:prstGeom>
          <a:noFill/>
          <a:ln/>
        </p:spPr>
        <p:txBody>
          <a:bodyPr wrap="square" lIns="0" tIns="0" rIns="0" bIns="0" rtlCol="0" anchor="t"/>
          <a:lstStyle/>
          <a:p>
            <a:pPr marL="0" indent="0">
              <a:lnSpc>
                <a:spcPts val="1900"/>
              </a:lnSpc>
              <a:buNone/>
            </a:pPr>
            <a:r>
              <a:rPr lang="en-US" sz="1300" b="1" dirty="0">
                <a:solidFill>
                  <a:srgbClr val="000000"/>
                </a:solidFill>
                <a:latin typeface="Calibri" pitchFamily="34" charset="0"/>
                <a:ea typeface="Calibri" pitchFamily="34" charset="-122"/>
                <a:cs typeface="Calibri" pitchFamily="34" charset="-120"/>
              </a:rPr>
              <a:t>Model 1 — Resource Allocation Optimization (LP)</a:t>
            </a:r>
            <a:endParaRPr lang="en-US" sz="1300" dirty="0"/>
          </a:p>
          <a:p>
            <a:pPr marL="0" indent="0">
              <a:lnSpc>
                <a:spcPts val="1900"/>
              </a:lnSpc>
              <a:buNone/>
            </a:pPr>
            <a:r>
              <a:rPr lang="en-US" sz="1300" dirty="0">
                <a:solidFill>
                  <a:srgbClr val="000000"/>
                </a:solidFill>
                <a:latin typeface="Calibri" pitchFamily="34" charset="0"/>
                <a:ea typeface="Calibri" pitchFamily="34" charset="-122"/>
                <a:cs typeface="Calibri" pitchFamily="34" charset="-120"/>
              </a:rPr>
              <a:t>Terminal_ID, Workforce_Assigned, Equipment_Used, Throughput_Rate, Demand_Forecast.</a:t>
            </a:r>
            <a:endParaRPr lang="en-US" sz="1300" dirty="0"/>
          </a:p>
        </p:txBody>
      </p:sp>
      <p:sp>
        <p:nvSpPr>
          <p:cNvPr id="10" name="Shape 8"/>
          <p:cNvSpPr/>
          <p:nvPr/>
        </p:nvSpPr>
        <p:spPr>
          <a:xfrm>
            <a:off x="6096000" y="3493008"/>
            <a:ext cx="5330952" cy="1920240"/>
          </a:xfrm>
          <a:prstGeom prst="rect">
            <a:avLst/>
          </a:prstGeom>
          <a:solidFill>
            <a:srgbClr val="F2F2F2"/>
          </a:solidFill>
          <a:ln w="9525">
            <a:solidFill>
              <a:srgbClr val="000000"/>
            </a:solidFill>
            <a:prstDash val="solid"/>
          </a:ln>
        </p:spPr>
      </p:sp>
      <p:sp>
        <p:nvSpPr>
          <p:cNvPr id="11" name="Text 9"/>
          <p:cNvSpPr/>
          <p:nvPr/>
        </p:nvSpPr>
        <p:spPr>
          <a:xfrm>
            <a:off x="6327648" y="3630168"/>
            <a:ext cx="4965192" cy="1645920"/>
          </a:xfrm>
          <a:prstGeom prst="rect">
            <a:avLst/>
          </a:prstGeom>
          <a:noFill/>
          <a:ln/>
        </p:spPr>
        <p:txBody>
          <a:bodyPr wrap="square" lIns="0" tIns="0" rIns="0" bIns="0" rtlCol="0" anchor="t"/>
          <a:lstStyle/>
          <a:p>
            <a:pPr marL="0" indent="0">
              <a:lnSpc>
                <a:spcPts val="1900"/>
              </a:lnSpc>
              <a:buNone/>
            </a:pPr>
            <a:r>
              <a:rPr lang="en-US" sz="1300" b="1" dirty="0">
                <a:solidFill>
                  <a:srgbClr val="000000"/>
                </a:solidFill>
                <a:latin typeface="Calibri" pitchFamily="34" charset="0"/>
                <a:ea typeface="Calibri" pitchFamily="34" charset="-122"/>
                <a:cs typeface="Calibri" pitchFamily="34" charset="-120"/>
              </a:rPr>
              <a:t>Model 2 — Shipment Selection Optimization (IP)</a:t>
            </a:r>
            <a:endParaRPr lang="en-US" sz="1300" dirty="0"/>
          </a:p>
          <a:p>
            <a:r>
              <a:rPr lang="en-US" sz="1200" dirty="0">
                <a:solidFill>
                  <a:srgbClr val="000000"/>
                </a:solidFill>
                <a:latin typeface="Calibri" pitchFamily="34" charset="0"/>
                <a:ea typeface="Calibri" pitchFamily="34" charset="-122"/>
                <a:cs typeface="Calibri" pitchFamily="34" charset="-120"/>
              </a:rPr>
              <a:t>Record_ID, Timestamp, Cargo_Volume, </a:t>
            </a:r>
            <a:r>
              <a:rPr lang="en-US" sz="1200" dirty="0" err="1"/>
              <a:t>Shipment_Priority</a:t>
            </a:r>
            <a:r>
              <a:rPr lang="en-US" sz="1200" dirty="0">
                <a:solidFill>
                  <a:srgbClr val="000000"/>
                </a:solidFill>
                <a:latin typeface="Calibri" pitchFamily="34" charset="0"/>
                <a:ea typeface="Calibri" pitchFamily="34" charset="-122"/>
                <a:cs typeface="Calibri" pitchFamily="34" charset="-120"/>
              </a:rPr>
              <a:t>, Handling_Time, Waiting_Time, Queue_Length, Workforce_Assigned, Equipment_Used.</a:t>
            </a:r>
            <a:endParaRPr lang="en-US" sz="1200" dirty="0"/>
          </a:p>
        </p:txBody>
      </p:sp>
      <p:sp>
        <p:nvSpPr>
          <p:cNvPr id="12" name="Text 10"/>
          <p:cNvSpPr/>
          <p:nvPr/>
        </p:nvSpPr>
        <p:spPr>
          <a:xfrm>
            <a:off x="713232" y="5468112"/>
            <a:ext cx="10762488" cy="457200"/>
          </a:xfrm>
          <a:prstGeom prst="rect">
            <a:avLst/>
          </a:prstGeom>
          <a:noFill/>
          <a:ln/>
        </p:spPr>
        <p:txBody>
          <a:bodyPr wrap="square" lIns="0" tIns="0" rIns="0" bIns="0" rtlCol="0" anchor="t"/>
          <a:lstStyle/>
          <a:p>
            <a:pPr marL="0" indent="0">
              <a:lnSpc>
                <a:spcPts val="1700"/>
              </a:lnSpc>
              <a:buNone/>
            </a:pP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67551" y="420106"/>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Proposed Methodology</a:t>
            </a:r>
            <a:endParaRPr lang="en-US" sz="3200" dirty="0"/>
          </a:p>
        </p:txBody>
      </p:sp>
      <p:sp>
        <p:nvSpPr>
          <p:cNvPr id="5" name="Shape 3"/>
          <p:cNvSpPr/>
          <p:nvPr/>
        </p:nvSpPr>
        <p:spPr>
          <a:xfrm>
            <a:off x="713232" y="1371600"/>
            <a:ext cx="1700784" cy="603504"/>
          </a:xfrm>
          <a:prstGeom prst="rect">
            <a:avLst/>
          </a:prstGeom>
          <a:solidFill>
            <a:srgbClr val="30538A"/>
          </a:solidFill>
          <a:ln w="9525">
            <a:solidFill>
              <a:srgbClr val="30538A"/>
            </a:solidFill>
            <a:prstDash val="solid"/>
          </a:ln>
        </p:spPr>
      </p:sp>
      <p:sp>
        <p:nvSpPr>
          <p:cNvPr id="6" name="Shape 4"/>
          <p:cNvSpPr/>
          <p:nvPr/>
        </p:nvSpPr>
        <p:spPr>
          <a:xfrm>
            <a:off x="1426464" y="1417320"/>
            <a:ext cx="274320" cy="274320"/>
          </a:xfrm>
          <a:prstGeom prst="ellipse">
            <a:avLst/>
          </a:prstGeom>
          <a:solidFill>
            <a:srgbClr val="FFFFFF"/>
          </a:solidFill>
          <a:ln w="6350">
            <a:solidFill>
              <a:srgbClr val="FFFFFF"/>
            </a:solidFill>
            <a:prstDash val="solid"/>
          </a:ln>
        </p:spPr>
      </p:sp>
      <p:sp>
        <p:nvSpPr>
          <p:cNvPr id="7" name="Text 5"/>
          <p:cNvSpPr/>
          <p:nvPr/>
        </p:nvSpPr>
        <p:spPr>
          <a:xfrm>
            <a:off x="1426464" y="1417320"/>
            <a:ext cx="274320" cy="274320"/>
          </a:xfrm>
          <a:prstGeom prst="rect">
            <a:avLst/>
          </a:prstGeom>
          <a:noFill/>
          <a:ln/>
        </p:spPr>
        <p:txBody>
          <a:bodyPr wrap="square" lIns="0" tIns="0" rIns="0" bIns="0" rtlCol="0" anchor="ctr"/>
          <a:lstStyle/>
          <a:p>
            <a:pPr marL="0" indent="0" algn="ctr">
              <a:buNone/>
            </a:pPr>
            <a:r>
              <a:rPr lang="en-US" sz="1100" b="1" dirty="0">
                <a:solidFill>
                  <a:srgbClr val="30538A"/>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749808"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DATASET</a:t>
            </a:r>
            <a:endParaRPr lang="en-US" sz="900" dirty="0"/>
          </a:p>
        </p:txBody>
      </p:sp>
      <p:sp>
        <p:nvSpPr>
          <p:cNvPr id="9" name="Shape 7"/>
          <p:cNvSpPr/>
          <p:nvPr/>
        </p:nvSpPr>
        <p:spPr>
          <a:xfrm>
            <a:off x="713232" y="1975104"/>
            <a:ext cx="1700784" cy="1078992"/>
          </a:xfrm>
          <a:prstGeom prst="rect">
            <a:avLst/>
          </a:prstGeom>
          <a:solidFill>
            <a:srgbClr val="FFFFFF"/>
          </a:solidFill>
          <a:ln w="9525">
            <a:solidFill>
              <a:srgbClr val="30538A"/>
            </a:solidFill>
            <a:prstDash val="solid"/>
          </a:ln>
        </p:spPr>
      </p:sp>
      <p:sp>
        <p:nvSpPr>
          <p:cNvPr id="10" name="Text 8"/>
          <p:cNvSpPr/>
          <p:nvPr/>
        </p:nvSpPr>
        <p:spPr>
          <a:xfrm>
            <a:off x="795528"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5,000 records, 28 features</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4 terminals (T1 – T4)</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Kaggle, CC0 licence</a:t>
            </a:r>
            <a:endParaRPr lang="en-US" sz="950" dirty="0"/>
          </a:p>
        </p:txBody>
      </p:sp>
      <p:sp>
        <p:nvSpPr>
          <p:cNvPr id="11" name="Shape 9"/>
          <p:cNvSpPr/>
          <p:nvPr/>
        </p:nvSpPr>
        <p:spPr>
          <a:xfrm>
            <a:off x="2414016" y="2514600"/>
            <a:ext cx="118872" cy="0"/>
          </a:xfrm>
          <a:prstGeom prst="line">
            <a:avLst/>
          </a:prstGeom>
          <a:noFill/>
          <a:ln w="15875">
            <a:solidFill>
              <a:srgbClr val="808080"/>
            </a:solidFill>
            <a:prstDash val="solid"/>
            <a:tailEnd type="triangle"/>
          </a:ln>
        </p:spPr>
      </p:sp>
      <p:sp>
        <p:nvSpPr>
          <p:cNvPr id="12" name="Shape 10"/>
          <p:cNvSpPr/>
          <p:nvPr/>
        </p:nvSpPr>
        <p:spPr>
          <a:xfrm>
            <a:off x="2532888" y="1371600"/>
            <a:ext cx="1700784" cy="603504"/>
          </a:xfrm>
          <a:prstGeom prst="rect">
            <a:avLst/>
          </a:prstGeom>
          <a:solidFill>
            <a:srgbClr val="2E7D4F"/>
          </a:solidFill>
          <a:ln w="9525">
            <a:solidFill>
              <a:srgbClr val="2E7D4F"/>
            </a:solidFill>
            <a:prstDash val="solid"/>
          </a:ln>
        </p:spPr>
      </p:sp>
      <p:sp>
        <p:nvSpPr>
          <p:cNvPr id="13" name="Shape 11"/>
          <p:cNvSpPr/>
          <p:nvPr/>
        </p:nvSpPr>
        <p:spPr>
          <a:xfrm>
            <a:off x="3246120" y="1417320"/>
            <a:ext cx="274320" cy="274320"/>
          </a:xfrm>
          <a:prstGeom prst="ellipse">
            <a:avLst/>
          </a:prstGeom>
          <a:solidFill>
            <a:srgbClr val="FFFFFF"/>
          </a:solidFill>
          <a:ln w="6350">
            <a:solidFill>
              <a:srgbClr val="FFFFFF"/>
            </a:solidFill>
            <a:prstDash val="solid"/>
          </a:ln>
        </p:spPr>
      </p:sp>
      <p:sp>
        <p:nvSpPr>
          <p:cNvPr id="14" name="Text 12"/>
          <p:cNvSpPr/>
          <p:nvPr/>
        </p:nvSpPr>
        <p:spPr>
          <a:xfrm>
            <a:off x="3246120" y="1417320"/>
            <a:ext cx="274320" cy="274320"/>
          </a:xfrm>
          <a:prstGeom prst="rect">
            <a:avLst/>
          </a:prstGeom>
          <a:noFill/>
          <a:ln/>
        </p:spPr>
        <p:txBody>
          <a:bodyPr wrap="square" lIns="0" tIns="0" rIns="0" bIns="0" rtlCol="0" anchor="ctr"/>
          <a:lstStyle/>
          <a:p>
            <a:pPr marL="0" indent="0" algn="ctr">
              <a:buNone/>
            </a:pPr>
            <a:r>
              <a:rPr lang="en-US" sz="1100" b="1" dirty="0">
                <a:solidFill>
                  <a:srgbClr val="2E7D4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2569464"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PREPROCESSING</a:t>
            </a:r>
            <a:endParaRPr lang="en-US" sz="900" dirty="0"/>
          </a:p>
        </p:txBody>
      </p:sp>
      <p:sp>
        <p:nvSpPr>
          <p:cNvPr id="16" name="Shape 14"/>
          <p:cNvSpPr/>
          <p:nvPr/>
        </p:nvSpPr>
        <p:spPr>
          <a:xfrm>
            <a:off x="2532888" y="1975104"/>
            <a:ext cx="1700784" cy="1078992"/>
          </a:xfrm>
          <a:prstGeom prst="rect">
            <a:avLst/>
          </a:prstGeom>
          <a:solidFill>
            <a:srgbClr val="FFFFFF"/>
          </a:solidFill>
          <a:ln w="9525">
            <a:solidFill>
              <a:srgbClr val="2E7D4F"/>
            </a:solidFill>
            <a:prstDash val="solid"/>
          </a:ln>
        </p:spPr>
      </p:sp>
      <p:sp>
        <p:nvSpPr>
          <p:cNvPr id="17" name="Text 15"/>
          <p:cNvSpPr/>
          <p:nvPr/>
        </p:nvSpPr>
        <p:spPr>
          <a:xfrm>
            <a:off x="2615184"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Check ranges and data types</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Group the records terminal-wise</a:t>
            </a:r>
            <a:endParaRPr lang="en-US" sz="950" dirty="0"/>
          </a:p>
          <a:p>
            <a:pPr>
              <a:lnSpc>
                <a:spcPts val="1200"/>
              </a:lnSpc>
              <a:spcAft>
                <a:spcPts val="600"/>
              </a:spcAft>
              <a:buSzPct val="100000"/>
            </a:pPr>
            <a:endParaRPr lang="en-US" sz="950" dirty="0"/>
          </a:p>
        </p:txBody>
      </p:sp>
      <p:sp>
        <p:nvSpPr>
          <p:cNvPr id="18" name="Shape 16"/>
          <p:cNvSpPr/>
          <p:nvPr/>
        </p:nvSpPr>
        <p:spPr>
          <a:xfrm>
            <a:off x="4233672" y="2514600"/>
            <a:ext cx="118872" cy="0"/>
          </a:xfrm>
          <a:prstGeom prst="line">
            <a:avLst/>
          </a:prstGeom>
          <a:noFill/>
          <a:ln w="15875">
            <a:solidFill>
              <a:srgbClr val="808080"/>
            </a:solidFill>
            <a:prstDash val="solid"/>
            <a:tailEnd type="triangle"/>
          </a:ln>
        </p:spPr>
      </p:sp>
      <p:sp>
        <p:nvSpPr>
          <p:cNvPr id="19" name="Shape 17"/>
          <p:cNvSpPr/>
          <p:nvPr/>
        </p:nvSpPr>
        <p:spPr>
          <a:xfrm>
            <a:off x="4352544" y="1371600"/>
            <a:ext cx="1700784" cy="603504"/>
          </a:xfrm>
          <a:prstGeom prst="rect">
            <a:avLst/>
          </a:prstGeom>
          <a:solidFill>
            <a:srgbClr val="B0761A"/>
          </a:solidFill>
          <a:ln w="9525">
            <a:solidFill>
              <a:srgbClr val="B0761A"/>
            </a:solidFill>
            <a:prstDash val="solid"/>
          </a:ln>
        </p:spPr>
      </p:sp>
      <p:sp>
        <p:nvSpPr>
          <p:cNvPr id="20" name="Shape 18"/>
          <p:cNvSpPr/>
          <p:nvPr/>
        </p:nvSpPr>
        <p:spPr>
          <a:xfrm>
            <a:off x="5065776" y="1417320"/>
            <a:ext cx="274320" cy="274320"/>
          </a:xfrm>
          <a:prstGeom prst="ellipse">
            <a:avLst/>
          </a:prstGeom>
          <a:solidFill>
            <a:srgbClr val="FFFFFF"/>
          </a:solidFill>
          <a:ln w="6350">
            <a:solidFill>
              <a:srgbClr val="FFFFFF"/>
            </a:solidFill>
            <a:prstDash val="solid"/>
          </a:ln>
        </p:spPr>
      </p:sp>
      <p:sp>
        <p:nvSpPr>
          <p:cNvPr id="21" name="Text 19"/>
          <p:cNvSpPr/>
          <p:nvPr/>
        </p:nvSpPr>
        <p:spPr>
          <a:xfrm>
            <a:off x="5065776" y="1417320"/>
            <a:ext cx="274320" cy="274320"/>
          </a:xfrm>
          <a:prstGeom prst="rect">
            <a:avLst/>
          </a:prstGeom>
          <a:noFill/>
          <a:ln/>
        </p:spPr>
        <p:txBody>
          <a:bodyPr wrap="square" lIns="0" tIns="0" rIns="0" bIns="0" rtlCol="0" anchor="ctr"/>
          <a:lstStyle/>
          <a:p>
            <a:pPr marL="0" indent="0" algn="ctr">
              <a:buNone/>
            </a:pPr>
            <a:r>
              <a:rPr lang="en-US" sz="1100" b="1" dirty="0">
                <a:solidFill>
                  <a:srgbClr val="B0761A"/>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4389120"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 ANALYSIS</a:t>
            </a:r>
            <a:endParaRPr lang="en-US" sz="900" dirty="0"/>
          </a:p>
        </p:txBody>
      </p:sp>
      <p:sp>
        <p:nvSpPr>
          <p:cNvPr id="23" name="Shape 21"/>
          <p:cNvSpPr/>
          <p:nvPr/>
        </p:nvSpPr>
        <p:spPr>
          <a:xfrm>
            <a:off x="4352544" y="1975104"/>
            <a:ext cx="1700784" cy="1078992"/>
          </a:xfrm>
          <a:prstGeom prst="rect">
            <a:avLst/>
          </a:prstGeom>
          <a:solidFill>
            <a:srgbClr val="FFFFFF"/>
          </a:solidFill>
          <a:ln w="9525">
            <a:solidFill>
              <a:srgbClr val="B0761A"/>
            </a:solidFill>
            <a:prstDash val="solid"/>
          </a:ln>
        </p:spPr>
      </p:sp>
      <p:sp>
        <p:nvSpPr>
          <p:cNvPr id="24" name="Text 22"/>
          <p:cNvSpPr/>
          <p:nvPr/>
        </p:nvSpPr>
        <p:spPr>
          <a:xfrm>
            <a:off x="4434840"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Resource and throughput study</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demand analysis</a:t>
            </a:r>
            <a:endParaRPr lang="en-US" sz="950" dirty="0"/>
          </a:p>
        </p:txBody>
      </p:sp>
      <p:sp>
        <p:nvSpPr>
          <p:cNvPr id="25" name="Shape 23"/>
          <p:cNvSpPr/>
          <p:nvPr/>
        </p:nvSpPr>
        <p:spPr>
          <a:xfrm>
            <a:off x="6053328" y="2514600"/>
            <a:ext cx="118872" cy="0"/>
          </a:xfrm>
          <a:prstGeom prst="line">
            <a:avLst/>
          </a:prstGeom>
          <a:noFill/>
          <a:ln w="15875">
            <a:solidFill>
              <a:srgbClr val="808080"/>
            </a:solidFill>
            <a:prstDash val="solid"/>
            <a:tailEnd type="triangle"/>
          </a:ln>
        </p:spPr>
      </p:sp>
      <p:sp>
        <p:nvSpPr>
          <p:cNvPr id="26" name="Shape 24"/>
          <p:cNvSpPr/>
          <p:nvPr/>
        </p:nvSpPr>
        <p:spPr>
          <a:xfrm>
            <a:off x="6172200" y="1371600"/>
            <a:ext cx="1700784" cy="603504"/>
          </a:xfrm>
          <a:prstGeom prst="rect">
            <a:avLst/>
          </a:prstGeom>
          <a:solidFill>
            <a:srgbClr val="6B4B8A"/>
          </a:solidFill>
          <a:ln w="9525">
            <a:solidFill>
              <a:srgbClr val="6B4B8A"/>
            </a:solidFill>
            <a:prstDash val="solid"/>
          </a:ln>
        </p:spPr>
      </p:sp>
      <p:sp>
        <p:nvSpPr>
          <p:cNvPr id="27" name="Shape 25"/>
          <p:cNvSpPr/>
          <p:nvPr/>
        </p:nvSpPr>
        <p:spPr>
          <a:xfrm>
            <a:off x="6885432" y="1417320"/>
            <a:ext cx="274320" cy="274320"/>
          </a:xfrm>
          <a:prstGeom prst="ellipse">
            <a:avLst/>
          </a:prstGeom>
          <a:solidFill>
            <a:srgbClr val="FFFFFF"/>
          </a:solidFill>
          <a:ln w="6350">
            <a:solidFill>
              <a:srgbClr val="FFFFFF"/>
            </a:solidFill>
            <a:prstDash val="solid"/>
          </a:ln>
        </p:spPr>
      </p:sp>
      <p:sp>
        <p:nvSpPr>
          <p:cNvPr id="28" name="Text 26"/>
          <p:cNvSpPr/>
          <p:nvPr/>
        </p:nvSpPr>
        <p:spPr>
          <a:xfrm>
            <a:off x="6885432" y="1417320"/>
            <a:ext cx="274320" cy="274320"/>
          </a:xfrm>
          <a:prstGeom prst="rect">
            <a:avLst/>
          </a:prstGeom>
          <a:noFill/>
          <a:ln/>
        </p:spPr>
        <p:txBody>
          <a:bodyPr wrap="square" lIns="0" tIns="0" rIns="0" bIns="0" rtlCol="0" anchor="ctr"/>
          <a:lstStyle/>
          <a:p>
            <a:pPr marL="0" indent="0" algn="ctr">
              <a:buNone/>
            </a:pPr>
            <a:r>
              <a:rPr lang="en-US" sz="1100" b="1" dirty="0">
                <a:solidFill>
                  <a:srgbClr val="6B4B8A"/>
                </a:solidFill>
                <a:latin typeface="Calibri" pitchFamily="34" charset="0"/>
                <a:ea typeface="Calibri" pitchFamily="34" charset="-122"/>
                <a:cs typeface="Calibri" pitchFamily="34" charset="-120"/>
              </a:rPr>
              <a:t>4</a:t>
            </a:r>
            <a:endParaRPr lang="en-US" sz="1100" dirty="0"/>
          </a:p>
        </p:txBody>
      </p:sp>
      <p:sp>
        <p:nvSpPr>
          <p:cNvPr id="29" name="Text 27"/>
          <p:cNvSpPr/>
          <p:nvPr/>
        </p:nvSpPr>
        <p:spPr>
          <a:xfrm>
            <a:off x="6208776"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OPTIMIZATION MODELING</a:t>
            </a:r>
            <a:endParaRPr lang="en-US" sz="900" dirty="0"/>
          </a:p>
        </p:txBody>
      </p:sp>
      <p:sp>
        <p:nvSpPr>
          <p:cNvPr id="30" name="Shape 28"/>
          <p:cNvSpPr/>
          <p:nvPr/>
        </p:nvSpPr>
        <p:spPr>
          <a:xfrm>
            <a:off x="6172200" y="1975104"/>
            <a:ext cx="1700784" cy="1078992"/>
          </a:xfrm>
          <a:prstGeom prst="rect">
            <a:avLst/>
          </a:prstGeom>
          <a:solidFill>
            <a:srgbClr val="FFFFFF"/>
          </a:solidFill>
          <a:ln w="9525">
            <a:solidFill>
              <a:srgbClr val="6B4B8A"/>
            </a:solidFill>
            <a:prstDash val="solid"/>
          </a:ln>
        </p:spPr>
      </p:sp>
      <p:sp>
        <p:nvSpPr>
          <p:cNvPr id="31" name="Text 29"/>
          <p:cNvSpPr/>
          <p:nvPr/>
        </p:nvSpPr>
        <p:spPr>
          <a:xfrm>
            <a:off x="6254496"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Derive the model parameters</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Set objectives and constraints</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Build LP and IP in PuLP</a:t>
            </a:r>
            <a:endParaRPr lang="en-US" sz="950" dirty="0"/>
          </a:p>
        </p:txBody>
      </p:sp>
      <p:sp>
        <p:nvSpPr>
          <p:cNvPr id="32" name="Shape 30"/>
          <p:cNvSpPr/>
          <p:nvPr/>
        </p:nvSpPr>
        <p:spPr>
          <a:xfrm>
            <a:off x="7872984" y="2514600"/>
            <a:ext cx="118872" cy="0"/>
          </a:xfrm>
          <a:prstGeom prst="line">
            <a:avLst/>
          </a:prstGeom>
          <a:noFill/>
          <a:ln w="15875">
            <a:solidFill>
              <a:srgbClr val="808080"/>
            </a:solidFill>
            <a:prstDash val="solid"/>
            <a:tailEnd type="triangle"/>
          </a:ln>
        </p:spPr>
      </p:sp>
      <p:sp>
        <p:nvSpPr>
          <p:cNvPr id="33" name="Shape 31"/>
          <p:cNvSpPr/>
          <p:nvPr/>
        </p:nvSpPr>
        <p:spPr>
          <a:xfrm>
            <a:off x="7991856" y="1371600"/>
            <a:ext cx="1700784" cy="603504"/>
          </a:xfrm>
          <a:prstGeom prst="rect">
            <a:avLst/>
          </a:prstGeom>
          <a:solidFill>
            <a:srgbClr val="A33131"/>
          </a:solidFill>
          <a:ln w="9525">
            <a:solidFill>
              <a:srgbClr val="A33131"/>
            </a:solidFill>
            <a:prstDash val="solid"/>
          </a:ln>
        </p:spPr>
      </p:sp>
      <p:sp>
        <p:nvSpPr>
          <p:cNvPr id="34" name="Shape 32"/>
          <p:cNvSpPr/>
          <p:nvPr/>
        </p:nvSpPr>
        <p:spPr>
          <a:xfrm>
            <a:off x="8705088" y="1417320"/>
            <a:ext cx="274320" cy="274320"/>
          </a:xfrm>
          <a:prstGeom prst="ellipse">
            <a:avLst/>
          </a:prstGeom>
          <a:solidFill>
            <a:srgbClr val="FFFFFF"/>
          </a:solidFill>
          <a:ln w="6350">
            <a:solidFill>
              <a:srgbClr val="FFFFFF"/>
            </a:solidFill>
            <a:prstDash val="solid"/>
          </a:ln>
        </p:spPr>
      </p:sp>
      <p:sp>
        <p:nvSpPr>
          <p:cNvPr id="35" name="Text 33"/>
          <p:cNvSpPr/>
          <p:nvPr/>
        </p:nvSpPr>
        <p:spPr>
          <a:xfrm>
            <a:off x="8705088" y="1417320"/>
            <a:ext cx="274320" cy="274320"/>
          </a:xfrm>
          <a:prstGeom prst="rect">
            <a:avLst/>
          </a:prstGeom>
          <a:noFill/>
          <a:ln/>
        </p:spPr>
        <p:txBody>
          <a:bodyPr wrap="square" lIns="0" tIns="0" rIns="0" bIns="0" rtlCol="0" anchor="ctr"/>
          <a:lstStyle/>
          <a:p>
            <a:pPr marL="0" indent="0" algn="ctr">
              <a:buNone/>
            </a:pPr>
            <a:r>
              <a:rPr lang="en-US" sz="1100" b="1" dirty="0">
                <a:solidFill>
                  <a:srgbClr val="A33131"/>
                </a:solidFill>
                <a:latin typeface="Calibri" pitchFamily="34" charset="0"/>
                <a:ea typeface="Calibri" pitchFamily="34" charset="-122"/>
                <a:cs typeface="Calibri" pitchFamily="34" charset="-120"/>
              </a:rPr>
              <a:t>5</a:t>
            </a:r>
            <a:endParaRPr lang="en-US" sz="1100" dirty="0"/>
          </a:p>
        </p:txBody>
      </p:sp>
      <p:sp>
        <p:nvSpPr>
          <p:cNvPr id="36" name="Text 34"/>
          <p:cNvSpPr/>
          <p:nvPr/>
        </p:nvSpPr>
        <p:spPr>
          <a:xfrm>
            <a:off x="8028432"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SOLVE &amp; VALIDATE</a:t>
            </a:r>
            <a:endParaRPr lang="en-US" sz="900" dirty="0"/>
          </a:p>
        </p:txBody>
      </p:sp>
      <p:sp>
        <p:nvSpPr>
          <p:cNvPr id="37" name="Shape 35"/>
          <p:cNvSpPr/>
          <p:nvPr/>
        </p:nvSpPr>
        <p:spPr>
          <a:xfrm>
            <a:off x="7991856" y="1975104"/>
            <a:ext cx="1700784" cy="1078992"/>
          </a:xfrm>
          <a:prstGeom prst="rect">
            <a:avLst/>
          </a:prstGeom>
          <a:solidFill>
            <a:srgbClr val="FFFFFF"/>
          </a:solidFill>
          <a:ln w="9525">
            <a:solidFill>
              <a:srgbClr val="A33131"/>
            </a:solidFill>
            <a:prstDash val="solid"/>
          </a:ln>
        </p:spPr>
      </p:sp>
      <p:sp>
        <p:nvSpPr>
          <p:cNvPr id="38" name="Text 36"/>
          <p:cNvSpPr/>
          <p:nvPr/>
        </p:nvSpPr>
        <p:spPr>
          <a:xfrm>
            <a:off x="8074152"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Solve using the CBC solver</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Check feasibility</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Compare with the baseline</a:t>
            </a:r>
            <a:endParaRPr lang="en-US" sz="950" dirty="0"/>
          </a:p>
        </p:txBody>
      </p:sp>
      <p:sp>
        <p:nvSpPr>
          <p:cNvPr id="39" name="Shape 37"/>
          <p:cNvSpPr/>
          <p:nvPr/>
        </p:nvSpPr>
        <p:spPr>
          <a:xfrm>
            <a:off x="9692640" y="2514600"/>
            <a:ext cx="118872" cy="0"/>
          </a:xfrm>
          <a:prstGeom prst="line">
            <a:avLst/>
          </a:prstGeom>
          <a:noFill/>
          <a:ln w="15875">
            <a:solidFill>
              <a:srgbClr val="808080"/>
            </a:solidFill>
            <a:prstDash val="solid"/>
            <a:tailEnd type="triangle"/>
          </a:ln>
        </p:spPr>
      </p:sp>
      <p:sp>
        <p:nvSpPr>
          <p:cNvPr id="40" name="Shape 38"/>
          <p:cNvSpPr/>
          <p:nvPr/>
        </p:nvSpPr>
        <p:spPr>
          <a:xfrm>
            <a:off x="9811512" y="1371600"/>
            <a:ext cx="1700784" cy="603504"/>
          </a:xfrm>
          <a:prstGeom prst="rect">
            <a:avLst/>
          </a:prstGeom>
          <a:solidFill>
            <a:srgbClr val="1E7F86"/>
          </a:solidFill>
          <a:ln w="9525">
            <a:solidFill>
              <a:srgbClr val="1E7F86"/>
            </a:solidFill>
            <a:prstDash val="solid"/>
          </a:ln>
        </p:spPr>
      </p:sp>
      <p:sp>
        <p:nvSpPr>
          <p:cNvPr id="41" name="Shape 39"/>
          <p:cNvSpPr/>
          <p:nvPr/>
        </p:nvSpPr>
        <p:spPr>
          <a:xfrm>
            <a:off x="10524744" y="1417320"/>
            <a:ext cx="274320" cy="274320"/>
          </a:xfrm>
          <a:prstGeom prst="ellipse">
            <a:avLst/>
          </a:prstGeom>
          <a:solidFill>
            <a:srgbClr val="FFFFFF"/>
          </a:solidFill>
          <a:ln w="6350">
            <a:solidFill>
              <a:srgbClr val="FFFFFF"/>
            </a:solidFill>
            <a:prstDash val="solid"/>
          </a:ln>
        </p:spPr>
      </p:sp>
      <p:sp>
        <p:nvSpPr>
          <p:cNvPr id="42" name="Text 40"/>
          <p:cNvSpPr/>
          <p:nvPr/>
        </p:nvSpPr>
        <p:spPr>
          <a:xfrm>
            <a:off x="10524744" y="1417320"/>
            <a:ext cx="274320" cy="274320"/>
          </a:xfrm>
          <a:prstGeom prst="rect">
            <a:avLst/>
          </a:prstGeom>
          <a:noFill/>
          <a:ln/>
        </p:spPr>
        <p:txBody>
          <a:bodyPr wrap="square" lIns="0" tIns="0" rIns="0" bIns="0" rtlCol="0" anchor="ctr"/>
          <a:lstStyle/>
          <a:p>
            <a:pPr marL="0" indent="0" algn="ctr">
              <a:buNone/>
            </a:pPr>
            <a:r>
              <a:rPr lang="en-US" sz="1100" b="1" dirty="0">
                <a:solidFill>
                  <a:srgbClr val="1E7F86"/>
                </a:solidFill>
                <a:latin typeface="Calibri" pitchFamily="34" charset="0"/>
                <a:ea typeface="Calibri" pitchFamily="34" charset="-122"/>
                <a:cs typeface="Calibri" pitchFamily="34" charset="-120"/>
              </a:rPr>
              <a:t>6</a:t>
            </a:r>
            <a:endParaRPr lang="en-US" sz="1100" dirty="0"/>
          </a:p>
        </p:txBody>
      </p:sp>
      <p:sp>
        <p:nvSpPr>
          <p:cNvPr id="43" name="Text 41"/>
          <p:cNvSpPr/>
          <p:nvPr/>
        </p:nvSpPr>
        <p:spPr>
          <a:xfrm>
            <a:off x="9848088"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INTERFACE &amp; RESULTS</a:t>
            </a:r>
            <a:endParaRPr lang="en-US" sz="900" dirty="0"/>
          </a:p>
        </p:txBody>
      </p:sp>
      <p:sp>
        <p:nvSpPr>
          <p:cNvPr id="44" name="Shape 42"/>
          <p:cNvSpPr/>
          <p:nvPr/>
        </p:nvSpPr>
        <p:spPr>
          <a:xfrm>
            <a:off x="9811512" y="1975104"/>
            <a:ext cx="1700784" cy="1078992"/>
          </a:xfrm>
          <a:prstGeom prst="rect">
            <a:avLst/>
          </a:prstGeom>
          <a:solidFill>
            <a:srgbClr val="FFFFFF"/>
          </a:solidFill>
          <a:ln w="9525">
            <a:solidFill>
              <a:srgbClr val="1E7F86"/>
            </a:solidFill>
            <a:prstDash val="solid"/>
          </a:ln>
        </p:spPr>
      </p:sp>
      <p:sp>
        <p:nvSpPr>
          <p:cNvPr id="45" name="Text 43"/>
          <p:cNvSpPr/>
          <p:nvPr/>
        </p:nvSpPr>
        <p:spPr>
          <a:xfrm>
            <a:off x="9893808"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Web interface (FastAPI + React)</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Charts and result tables</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Scenario inputs and reports</a:t>
            </a:r>
            <a:endParaRPr lang="en-US" sz="950" dirty="0"/>
          </a:p>
        </p:txBody>
      </p:sp>
      <p:sp>
        <p:nvSpPr>
          <p:cNvPr id="46" name="Shape 44"/>
          <p:cNvSpPr/>
          <p:nvPr/>
        </p:nvSpPr>
        <p:spPr>
          <a:xfrm>
            <a:off x="713232" y="3364992"/>
            <a:ext cx="4297680" cy="420624"/>
          </a:xfrm>
          <a:prstGeom prst="rect">
            <a:avLst/>
          </a:prstGeom>
          <a:solidFill>
            <a:srgbClr val="30538A"/>
          </a:solidFill>
          <a:ln w="9525">
            <a:solidFill>
              <a:srgbClr val="30538A"/>
            </a:solidFill>
            <a:prstDash val="solid"/>
          </a:ln>
        </p:spPr>
      </p:sp>
      <p:sp>
        <p:nvSpPr>
          <p:cNvPr id="47" name="Text 45"/>
          <p:cNvSpPr/>
          <p:nvPr/>
        </p:nvSpPr>
        <p:spPr>
          <a:xfrm>
            <a:off x="768096" y="3364992"/>
            <a:ext cx="418795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MODEL 1:  RESOURCE ALLOCATION  (LP)</a:t>
            </a:r>
            <a:endParaRPr lang="en-US" sz="1100" dirty="0"/>
          </a:p>
        </p:txBody>
      </p:sp>
      <p:sp>
        <p:nvSpPr>
          <p:cNvPr id="48" name="Shape 46"/>
          <p:cNvSpPr/>
          <p:nvPr/>
        </p:nvSpPr>
        <p:spPr>
          <a:xfrm>
            <a:off x="713232" y="3781044"/>
            <a:ext cx="4297680" cy="2103120"/>
          </a:xfrm>
          <a:prstGeom prst="rect">
            <a:avLst/>
          </a:prstGeom>
          <a:solidFill>
            <a:srgbClr val="EEF2F8"/>
          </a:solidFill>
          <a:ln w="9525">
            <a:solidFill>
              <a:srgbClr val="30538A"/>
            </a:solidFill>
            <a:prstDash val="solid"/>
          </a:ln>
        </p:spPr>
      </p:sp>
      <p:sp>
        <p:nvSpPr>
          <p:cNvPr id="49" name="Text 47"/>
          <p:cNvSpPr/>
          <p:nvPr/>
        </p:nvSpPr>
        <p:spPr>
          <a:xfrm>
            <a:off x="832104" y="3895344"/>
            <a:ext cx="1984248" cy="1874520"/>
          </a:xfrm>
          <a:prstGeom prst="rect">
            <a:avLst/>
          </a:prstGeom>
          <a:noFill/>
          <a:ln/>
        </p:spPr>
        <p:txBody>
          <a:bodyPr wrap="square" lIns="0" tIns="0" rIns="0" bIns="0" rtlCol="0" anchor="t"/>
          <a:lstStyle/>
          <a:p>
            <a:pPr marL="0" indent="0">
              <a:lnSpc>
                <a:spcPts val="1400"/>
              </a:lnSpc>
              <a:buNone/>
            </a:pPr>
            <a:r>
              <a:rPr lang="en-US" sz="1050" b="1" dirty="0">
                <a:solidFill>
                  <a:srgbClr val="30538A"/>
                </a:solidFill>
                <a:latin typeface="Calibri" pitchFamily="34" charset="0"/>
                <a:ea typeface="Calibri" pitchFamily="34" charset="-122"/>
                <a:cs typeface="Calibri" pitchFamily="34" charset="-120"/>
              </a:rPr>
              <a:t>Objective</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Maximize the total throughput</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across the four terminals</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 </a:t>
            </a:r>
            <a:endParaRPr lang="en-US" sz="1050" dirty="0"/>
          </a:p>
          <a:p>
            <a:pPr marL="0" indent="0">
              <a:lnSpc>
                <a:spcPts val="1400"/>
              </a:lnSpc>
              <a:buNone/>
            </a:pPr>
            <a:r>
              <a:rPr lang="en-US" sz="1050" b="1" dirty="0">
                <a:solidFill>
                  <a:srgbClr val="30538A"/>
                </a:solidFill>
                <a:latin typeface="Calibri" pitchFamily="34" charset="0"/>
                <a:ea typeface="Calibri" pitchFamily="34" charset="-122"/>
                <a:cs typeface="Calibri" pitchFamily="34" charset="-120"/>
              </a:rPr>
              <a:t>Decision Variables</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wₜ , eₜ = workers and equipment</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assigned to terminal t</a:t>
            </a:r>
            <a:endParaRPr lang="en-US" sz="1050" dirty="0"/>
          </a:p>
        </p:txBody>
      </p:sp>
      <p:sp>
        <p:nvSpPr>
          <p:cNvPr id="50" name="Text 48"/>
          <p:cNvSpPr/>
          <p:nvPr/>
        </p:nvSpPr>
        <p:spPr>
          <a:xfrm>
            <a:off x="2907792" y="3895344"/>
            <a:ext cx="1984248" cy="219456"/>
          </a:xfrm>
          <a:prstGeom prst="rect">
            <a:avLst/>
          </a:prstGeom>
          <a:noFill/>
          <a:ln/>
        </p:spPr>
        <p:txBody>
          <a:bodyPr wrap="square" lIns="0" tIns="0" rIns="0" bIns="0" rtlCol="0" anchor="ctr"/>
          <a:lstStyle/>
          <a:p>
            <a:pPr marL="0" indent="0">
              <a:buNone/>
            </a:pPr>
            <a:r>
              <a:rPr lang="en-US" sz="1050" b="1" dirty="0">
                <a:solidFill>
                  <a:srgbClr val="30538A"/>
                </a:solidFill>
                <a:latin typeface="Calibri" pitchFamily="34" charset="0"/>
                <a:ea typeface="Calibri" pitchFamily="34" charset="-122"/>
                <a:cs typeface="Calibri" pitchFamily="34" charset="-120"/>
              </a:rPr>
              <a:t>Key Inputs</a:t>
            </a:r>
            <a:endParaRPr lang="en-US" sz="1050" dirty="0"/>
          </a:p>
        </p:txBody>
      </p:sp>
      <p:sp>
        <p:nvSpPr>
          <p:cNvPr id="51" name="Text 49"/>
          <p:cNvSpPr/>
          <p:nvPr/>
        </p:nvSpPr>
        <p:spPr>
          <a:xfrm>
            <a:off x="2907792" y="4151376"/>
            <a:ext cx="1984248" cy="1600200"/>
          </a:xfrm>
          <a:prstGeom prst="rect">
            <a:avLst/>
          </a:prstGeom>
          <a:noFill/>
          <a:ln/>
        </p:spPr>
        <p:txBody>
          <a:bodyPr wrap="square" lIns="0" tIns="0" rIns="0" bIns="0" rtlCol="0" anchor="t"/>
          <a:lstStyle/>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Workforce assigned</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Equipment used</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Throughput rate</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Demand forecast</a:t>
            </a:r>
            <a:endParaRPr lang="en-US" sz="1050" dirty="0"/>
          </a:p>
        </p:txBody>
      </p:sp>
      <p:sp>
        <p:nvSpPr>
          <p:cNvPr id="52" name="Shape 50"/>
          <p:cNvSpPr/>
          <p:nvPr/>
        </p:nvSpPr>
        <p:spPr>
          <a:xfrm>
            <a:off x="7178040" y="3364992"/>
            <a:ext cx="4297680" cy="420624"/>
          </a:xfrm>
          <a:prstGeom prst="rect">
            <a:avLst/>
          </a:prstGeom>
          <a:solidFill>
            <a:srgbClr val="2E7D4F"/>
          </a:solidFill>
          <a:ln w="9525">
            <a:solidFill>
              <a:srgbClr val="2E7D4F"/>
            </a:solidFill>
            <a:prstDash val="solid"/>
          </a:ln>
        </p:spPr>
      </p:sp>
      <p:sp>
        <p:nvSpPr>
          <p:cNvPr id="53" name="Text 51"/>
          <p:cNvSpPr/>
          <p:nvPr/>
        </p:nvSpPr>
        <p:spPr>
          <a:xfrm>
            <a:off x="7232904" y="3364992"/>
            <a:ext cx="418795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MODEL 2:  SHIPMENT SELECTION  (IP)</a:t>
            </a:r>
            <a:endParaRPr lang="en-US" sz="1100" dirty="0"/>
          </a:p>
        </p:txBody>
      </p:sp>
      <p:sp>
        <p:nvSpPr>
          <p:cNvPr id="54" name="Shape 52"/>
          <p:cNvSpPr/>
          <p:nvPr/>
        </p:nvSpPr>
        <p:spPr>
          <a:xfrm>
            <a:off x="7178040" y="3785616"/>
            <a:ext cx="4297680" cy="2103120"/>
          </a:xfrm>
          <a:prstGeom prst="rect">
            <a:avLst/>
          </a:prstGeom>
          <a:solidFill>
            <a:srgbClr val="EDF5EF"/>
          </a:solidFill>
          <a:ln w="9525">
            <a:solidFill>
              <a:srgbClr val="2E7D4F"/>
            </a:solidFill>
            <a:prstDash val="solid"/>
          </a:ln>
        </p:spPr>
      </p:sp>
      <p:sp>
        <p:nvSpPr>
          <p:cNvPr id="55" name="Text 53"/>
          <p:cNvSpPr/>
          <p:nvPr/>
        </p:nvSpPr>
        <p:spPr>
          <a:xfrm>
            <a:off x="7296912" y="3895344"/>
            <a:ext cx="1984248" cy="1874520"/>
          </a:xfrm>
          <a:prstGeom prst="rect">
            <a:avLst/>
          </a:prstGeom>
          <a:noFill/>
          <a:ln/>
        </p:spPr>
        <p:txBody>
          <a:bodyPr wrap="square" lIns="0" tIns="0" rIns="0" bIns="0" rtlCol="0" anchor="t"/>
          <a:lstStyle/>
          <a:p>
            <a:pPr marL="0" indent="0">
              <a:lnSpc>
                <a:spcPts val="1400"/>
              </a:lnSpc>
              <a:buNone/>
            </a:pPr>
            <a:r>
              <a:rPr lang="en-US" sz="1050" b="1" dirty="0">
                <a:solidFill>
                  <a:srgbClr val="2E7D4F"/>
                </a:solidFill>
                <a:latin typeface="Calibri" pitchFamily="34" charset="0"/>
                <a:ea typeface="Calibri" pitchFamily="34" charset="-122"/>
                <a:cs typeface="Calibri" pitchFamily="34" charset="-120"/>
              </a:rPr>
              <a:t>Objective</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Maximize the total priority value</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of the shipments processed</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 </a:t>
            </a:r>
            <a:endParaRPr lang="en-US" sz="1050" dirty="0"/>
          </a:p>
          <a:p>
            <a:pPr marL="0" indent="0">
              <a:lnSpc>
                <a:spcPts val="1400"/>
              </a:lnSpc>
              <a:buNone/>
            </a:pPr>
            <a:r>
              <a:rPr lang="en-US" sz="1050" b="1" dirty="0">
                <a:solidFill>
                  <a:srgbClr val="2E7D4F"/>
                </a:solidFill>
                <a:latin typeface="Calibri" pitchFamily="34" charset="0"/>
                <a:ea typeface="Calibri" pitchFamily="34" charset="-122"/>
                <a:cs typeface="Calibri" pitchFamily="34" charset="-120"/>
              </a:rPr>
              <a:t>Decision Variable</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xᵢ = 1 if shipment i is processed</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in this window, 0 otherwise</a:t>
            </a:r>
            <a:endParaRPr lang="en-US" sz="1050" dirty="0"/>
          </a:p>
        </p:txBody>
      </p:sp>
      <p:sp>
        <p:nvSpPr>
          <p:cNvPr id="56" name="Text 54"/>
          <p:cNvSpPr/>
          <p:nvPr/>
        </p:nvSpPr>
        <p:spPr>
          <a:xfrm>
            <a:off x="9372600" y="3895344"/>
            <a:ext cx="1984248" cy="219456"/>
          </a:xfrm>
          <a:prstGeom prst="rect">
            <a:avLst/>
          </a:prstGeom>
          <a:noFill/>
          <a:ln/>
        </p:spPr>
        <p:txBody>
          <a:bodyPr wrap="square" lIns="0" tIns="0" rIns="0" bIns="0" rtlCol="0" anchor="ctr"/>
          <a:lstStyle/>
          <a:p>
            <a:pPr marL="0" indent="0">
              <a:buNone/>
            </a:pPr>
            <a:r>
              <a:rPr lang="en-US" sz="1050" b="1" dirty="0">
                <a:solidFill>
                  <a:srgbClr val="2E7D4F"/>
                </a:solidFill>
                <a:latin typeface="Calibri" pitchFamily="34" charset="0"/>
                <a:ea typeface="Calibri" pitchFamily="34" charset="-122"/>
                <a:cs typeface="Calibri" pitchFamily="34" charset="-120"/>
              </a:rPr>
              <a:t>Key Inputs</a:t>
            </a:r>
            <a:endParaRPr lang="en-US" sz="1050" dirty="0"/>
          </a:p>
        </p:txBody>
      </p:sp>
      <p:sp>
        <p:nvSpPr>
          <p:cNvPr id="57" name="Text 55"/>
          <p:cNvSpPr/>
          <p:nvPr/>
        </p:nvSpPr>
        <p:spPr>
          <a:xfrm>
            <a:off x="9372600" y="4151376"/>
            <a:ext cx="1984248" cy="1600200"/>
          </a:xfrm>
          <a:prstGeom prst="rect">
            <a:avLst/>
          </a:prstGeom>
          <a:noFill/>
          <a:ln/>
        </p:spPr>
        <p:txBody>
          <a:bodyPr wrap="square" lIns="0" tIns="0" rIns="0" bIns="0" rtlCol="0" anchor="t"/>
          <a:lstStyle/>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Cargo volume</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Handling time</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Shipment priority</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Waiting time</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Queue length</a:t>
            </a:r>
            <a:endParaRPr lang="en-US" sz="1050" dirty="0"/>
          </a:p>
        </p:txBody>
      </p:sp>
      <p:sp>
        <p:nvSpPr>
          <p:cNvPr id="59" name="Text 57"/>
          <p:cNvSpPr/>
          <p:nvPr/>
        </p:nvSpPr>
        <p:spPr>
          <a:xfrm>
            <a:off x="5376672" y="3931920"/>
            <a:ext cx="969264" cy="969264"/>
          </a:xfrm>
          <a:prstGeom prst="rect">
            <a:avLst/>
          </a:prstGeom>
          <a:noFill/>
          <a:ln/>
        </p:spPr>
        <p:txBody>
          <a:bodyPr wrap="square" lIns="0" tIns="0" rIns="0" bIns="0" rtlCol="0" anchor="ctr"/>
          <a:lstStyle/>
          <a:p>
            <a:pPr marL="0" indent="0" algn="ctr">
              <a:buNone/>
            </a:pPr>
            <a:endParaRPr lang="en-US" sz="2400" dirty="0"/>
          </a:p>
        </p:txBody>
      </p:sp>
      <p:sp>
        <p:nvSpPr>
          <p:cNvPr id="62" name="Text 60"/>
          <p:cNvSpPr/>
          <p:nvPr/>
        </p:nvSpPr>
        <p:spPr>
          <a:xfrm>
            <a:off x="5102352" y="5010912"/>
            <a:ext cx="1517904" cy="914400"/>
          </a:xfrm>
          <a:prstGeom prst="rect">
            <a:avLst/>
          </a:prstGeom>
          <a:noFill/>
          <a:ln/>
        </p:spPr>
        <p:txBody>
          <a:bodyPr wrap="square" lIns="0" tIns="0" rIns="0" bIns="0" rtlCol="0" anchor="t"/>
          <a:lstStyle/>
          <a:p>
            <a:pPr marL="0" indent="0" algn="ctr">
              <a:lnSpc>
                <a:spcPts val="1100"/>
              </a:lnSpc>
              <a:buNone/>
            </a:pP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7</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Techniques &amp; Tools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3769487238"/>
              </p:ext>
            </p:extLst>
          </p:nvPr>
        </p:nvGraphicFramePr>
        <p:xfrm>
          <a:off x="1737360" y="1554480"/>
          <a:ext cx="8686800" cy="3785616"/>
        </p:xfrm>
        <a:graphic>
          <a:graphicData uri="http://schemas.openxmlformats.org/drawingml/2006/table">
            <a:tbl>
              <a:tblPr/>
              <a:tblGrid>
                <a:gridCol w="27432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420624">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Tool / Technology</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Purpose</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Python</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Overall implementation</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Pandas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Data cleaning, processing and statistics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NumPy</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Numerical calculations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PuLP</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Formulation of the optimization models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CBC Solver</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Solving the Linear and Integer Programming models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Matplotlib / Plotly</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Statistical and optimization-result visualization</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Jupyter Notebook</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Exploratory data analysis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FastAPI + React</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Interactive interface</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2356" y="456337"/>
            <a:ext cx="11274552" cy="6035040"/>
          </a:xfrm>
          <a:prstGeom prst="rect">
            <a:avLst/>
          </a:prstGeom>
          <a:solidFill>
            <a:srgbClr val="FFFFFF"/>
          </a:solidFill>
          <a:ln w="9525">
            <a:solidFill>
              <a:srgbClr val="000000"/>
            </a:solidFill>
            <a:prstDash val="solid"/>
          </a:ln>
        </p:spPr>
        <p:txBody>
          <a:bodyPr/>
          <a:lstStyle/>
          <a:p>
            <a:endParaRPr lang="en-IN"/>
          </a:p>
        </p:txBody>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8</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Optimization Model 1</a:t>
            </a:r>
            <a:endParaRPr lang="en-US" sz="3200" dirty="0"/>
          </a:p>
        </p:txBody>
      </p:sp>
      <p:sp>
        <p:nvSpPr>
          <p:cNvPr id="5" name="Text 3"/>
          <p:cNvSpPr/>
          <p:nvPr/>
        </p:nvSpPr>
        <p:spPr>
          <a:xfrm>
            <a:off x="640080" y="1115568"/>
            <a:ext cx="10908792" cy="274320"/>
          </a:xfrm>
          <a:prstGeom prst="rect">
            <a:avLst/>
          </a:prstGeom>
          <a:noFill/>
          <a:ln/>
        </p:spPr>
        <p:txBody>
          <a:bodyPr wrap="square" lIns="0" tIns="0" rIns="0" bIns="0" rtlCol="0" anchor="ctr"/>
          <a:lstStyle/>
          <a:p>
            <a:pPr marL="0" indent="0" algn="ctr">
              <a:buNone/>
            </a:pPr>
            <a:r>
              <a:rPr lang="en-US" sz="1500" b="1" dirty="0">
                <a:solidFill>
                  <a:srgbClr val="000000"/>
                </a:solidFill>
                <a:latin typeface="Calibri" pitchFamily="34" charset="0"/>
                <a:ea typeface="Calibri" pitchFamily="34" charset="-122"/>
                <a:cs typeface="Calibri" pitchFamily="34" charset="-120"/>
              </a:rPr>
              <a:t>Resource Allocation  —  Linear Programming</a:t>
            </a:r>
            <a:endParaRPr lang="en-US" sz="1500" dirty="0"/>
          </a:p>
        </p:txBody>
      </p:sp>
      <p:sp>
        <p:nvSpPr>
          <p:cNvPr id="6" name="Text 4"/>
          <p:cNvSpPr/>
          <p:nvPr/>
        </p:nvSpPr>
        <p:spPr>
          <a:xfrm>
            <a:off x="713232" y="1408176"/>
            <a:ext cx="10762488" cy="438912"/>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Calibri" pitchFamily="34" charset="0"/>
                <a:ea typeface="Calibri" pitchFamily="34" charset="-122"/>
                <a:cs typeface="Calibri" pitchFamily="34" charset="-120"/>
              </a:rPr>
              <a:t>Determine how many workers and how much equipment should be assigned to each terminal so that the total throughput of the facility is maximized.</a:t>
            </a:r>
            <a:endParaRPr lang="en-US" sz="1400" dirty="0"/>
          </a:p>
        </p:txBody>
      </p:sp>
      <p:sp>
        <p:nvSpPr>
          <p:cNvPr id="7" name="Text 5"/>
          <p:cNvSpPr/>
          <p:nvPr/>
        </p:nvSpPr>
        <p:spPr>
          <a:xfrm>
            <a:off x="713232" y="1901952"/>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Decision Variables</a:t>
            </a:r>
            <a:endParaRPr lang="en-US" sz="1500" dirty="0"/>
          </a:p>
        </p:txBody>
      </p:sp>
      <p:sp>
        <p:nvSpPr>
          <p:cNvPr id="8" name="Shape 6"/>
          <p:cNvSpPr/>
          <p:nvPr/>
        </p:nvSpPr>
        <p:spPr>
          <a:xfrm>
            <a:off x="713232" y="2185416"/>
            <a:ext cx="10762488" cy="0"/>
          </a:xfrm>
          <a:prstGeom prst="line">
            <a:avLst/>
          </a:prstGeom>
          <a:noFill/>
          <a:ln w="12700">
            <a:solidFill>
              <a:srgbClr val="000000"/>
            </a:solidFill>
            <a:prstDash val="solid"/>
          </a:ln>
        </p:spPr>
      </p:sp>
      <p:sp>
        <p:nvSpPr>
          <p:cNvPr id="9" name="Text 7"/>
          <p:cNvSpPr/>
          <p:nvPr/>
        </p:nvSpPr>
        <p:spPr>
          <a:xfrm>
            <a:off x="960120" y="2249424"/>
            <a:ext cx="548640" cy="731520"/>
          </a:xfrm>
          <a:prstGeom prst="rect">
            <a:avLst/>
          </a:prstGeom>
          <a:noFill/>
          <a:ln/>
        </p:spPr>
        <p:txBody>
          <a:bodyPr wrap="square" lIns="0" tIns="0" rIns="0" bIns="0" rtlCol="0" anchor="t"/>
          <a:lstStyle/>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wₜ</a:t>
            </a:r>
            <a:endParaRPr lang="en-US" sz="1300" dirty="0"/>
          </a:p>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eₜ</a:t>
            </a:r>
            <a:endParaRPr lang="en-US" sz="1300" dirty="0"/>
          </a:p>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sₜ</a:t>
            </a:r>
            <a:endParaRPr lang="en-US" sz="1300" dirty="0"/>
          </a:p>
        </p:txBody>
      </p:sp>
      <p:sp>
        <p:nvSpPr>
          <p:cNvPr id="10" name="Text 8"/>
          <p:cNvSpPr/>
          <p:nvPr/>
        </p:nvSpPr>
        <p:spPr>
          <a:xfrm>
            <a:off x="1600200" y="2249424"/>
            <a:ext cx="4754880" cy="731520"/>
          </a:xfrm>
          <a:prstGeom prst="rect">
            <a:avLst/>
          </a:prstGeom>
          <a:noFill/>
          <a:ln/>
        </p:spPr>
        <p:txBody>
          <a:bodyPr wrap="square" lIns="0" tIns="0" rIns="0" bIns="0" rtlCol="0" anchor="t"/>
          <a:lstStyle/>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number of workers assigned to terminal t</a:t>
            </a:r>
            <a:endParaRPr lang="en-US" sz="1300" dirty="0"/>
          </a:p>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number of equipment units assigned to terminal t</a:t>
            </a:r>
            <a:endParaRPr lang="en-US" sz="1300" dirty="0"/>
          </a:p>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units of demand at terminal t that are left unmet</a:t>
            </a:r>
            <a:endParaRPr lang="en-US" sz="1300" dirty="0"/>
          </a:p>
        </p:txBody>
      </p:sp>
      <p:sp>
        <p:nvSpPr>
          <p:cNvPr id="11" name="Text 9"/>
          <p:cNvSpPr/>
          <p:nvPr/>
        </p:nvSpPr>
        <p:spPr>
          <a:xfrm>
            <a:off x="6492240" y="2267712"/>
            <a:ext cx="4846320" cy="274320"/>
          </a:xfrm>
          <a:prstGeom prst="rect">
            <a:avLst/>
          </a:prstGeom>
          <a:noFill/>
          <a:ln/>
        </p:spPr>
        <p:txBody>
          <a:bodyPr wrap="square" lIns="0" tIns="0" rIns="0" bIns="0" rtlCol="0" anchor="ctr"/>
          <a:lstStyle/>
          <a:p>
            <a:pPr marL="0" indent="0">
              <a:buNone/>
            </a:pPr>
            <a:r>
              <a:rPr lang="en-US" sz="1100" i="1" dirty="0">
                <a:solidFill>
                  <a:srgbClr val="000000"/>
                </a:solidFill>
                <a:latin typeface="Calibri" pitchFamily="34" charset="0"/>
                <a:ea typeface="Calibri" pitchFamily="34" charset="-122"/>
                <a:cs typeface="Calibri" pitchFamily="34" charset="-120"/>
              </a:rPr>
              <a:t>for every terminal  t = T1, T2, T3, T4        (all continuous, ≥ 0)</a:t>
            </a:r>
            <a:endParaRPr lang="en-US" sz="1100" dirty="0"/>
          </a:p>
        </p:txBody>
      </p:sp>
      <p:sp>
        <p:nvSpPr>
          <p:cNvPr id="12" name="Text 10"/>
          <p:cNvSpPr/>
          <p:nvPr/>
        </p:nvSpPr>
        <p:spPr>
          <a:xfrm>
            <a:off x="713232" y="2980944"/>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Objective Function</a:t>
            </a:r>
            <a:endParaRPr lang="en-US" sz="1500" dirty="0"/>
          </a:p>
        </p:txBody>
      </p:sp>
      <p:sp>
        <p:nvSpPr>
          <p:cNvPr id="13" name="Shape 11"/>
          <p:cNvSpPr/>
          <p:nvPr/>
        </p:nvSpPr>
        <p:spPr>
          <a:xfrm>
            <a:off x="713232" y="3264408"/>
            <a:ext cx="10762488" cy="0"/>
          </a:xfrm>
          <a:prstGeom prst="line">
            <a:avLst/>
          </a:prstGeom>
          <a:noFill/>
          <a:ln w="12700">
            <a:solidFill>
              <a:srgbClr val="000000"/>
            </a:solidFill>
            <a:prstDash val="solid"/>
          </a:ln>
        </p:spPr>
      </p:sp>
      <p:sp>
        <p:nvSpPr>
          <p:cNvPr id="14" name="Shape 12"/>
          <p:cNvSpPr/>
          <p:nvPr/>
        </p:nvSpPr>
        <p:spPr>
          <a:xfrm>
            <a:off x="850392" y="3383280"/>
            <a:ext cx="6400800" cy="658368"/>
          </a:xfrm>
          <a:prstGeom prst="rect">
            <a:avLst/>
          </a:prstGeom>
          <a:solidFill>
            <a:srgbClr val="FFFFFF"/>
          </a:solidFill>
          <a:ln w="9525">
            <a:solidFill>
              <a:srgbClr val="000000"/>
            </a:solidFill>
            <a:prstDash val="solid"/>
          </a:ln>
        </p:spPr>
      </p:sp>
      <p:sp>
        <p:nvSpPr>
          <p:cNvPr id="15" name="Text 13"/>
          <p:cNvSpPr/>
          <p:nvPr/>
        </p:nvSpPr>
        <p:spPr>
          <a:xfrm>
            <a:off x="941832" y="3383280"/>
            <a:ext cx="6217920" cy="658368"/>
          </a:xfrm>
          <a:prstGeom prst="rect">
            <a:avLst/>
          </a:prstGeom>
          <a:noFill/>
          <a:ln/>
        </p:spPr>
        <p:txBody>
          <a:bodyPr wrap="square" lIns="0" tIns="0" rIns="0" bIns="0" rtlCol="0" anchor="ctr"/>
          <a:lstStyle/>
          <a:p>
            <a:pPr marL="0" indent="0">
              <a:buNone/>
            </a:pPr>
            <a:r>
              <a:rPr lang="en-US" sz="1550" dirty="0">
                <a:solidFill>
                  <a:srgbClr val="000000"/>
                </a:solidFill>
                <a:latin typeface="Calibri" pitchFamily="34" charset="0"/>
                <a:ea typeface="Calibri" pitchFamily="34" charset="-122"/>
                <a:cs typeface="Calibri" pitchFamily="34" charset="-120"/>
              </a:rPr>
              <a:t>max  Z  =  Σₜ ( αₜ wₜ  +  βₜ eₜ )  −  M Σₜ sₜ</a:t>
            </a:r>
            <a:endParaRPr lang="en-US" sz="1550" dirty="0"/>
          </a:p>
        </p:txBody>
      </p:sp>
      <p:sp>
        <p:nvSpPr>
          <p:cNvPr id="16" name="Text 14"/>
          <p:cNvSpPr/>
          <p:nvPr/>
        </p:nvSpPr>
        <p:spPr>
          <a:xfrm>
            <a:off x="941832" y="4078224"/>
            <a:ext cx="6583680" cy="228600"/>
          </a:xfrm>
          <a:prstGeom prst="rect">
            <a:avLst/>
          </a:prstGeom>
          <a:noFill/>
          <a:ln/>
        </p:spPr>
        <p:txBody>
          <a:bodyPr wrap="square" lIns="0" tIns="0" rIns="0" bIns="0" rtlCol="0" anchor="ctr"/>
          <a:lstStyle/>
          <a:p>
            <a:pPr marL="0" indent="0">
              <a:buNone/>
            </a:pPr>
            <a:r>
              <a:rPr lang="en-US" sz="1050" i="1" dirty="0">
                <a:solidFill>
                  <a:srgbClr val="000000"/>
                </a:solidFill>
                <a:latin typeface="Calibri" pitchFamily="34" charset="0"/>
                <a:ea typeface="Calibri" pitchFamily="34" charset="-122"/>
                <a:cs typeface="Calibri" pitchFamily="34" charset="-120"/>
              </a:rPr>
              <a:t>total throughput across the four terminals,  the penalty on unmet demand</a:t>
            </a:r>
            <a:endParaRPr lang="en-US" sz="1050" dirty="0"/>
          </a:p>
        </p:txBody>
      </p:sp>
      <p:sp>
        <p:nvSpPr>
          <p:cNvPr id="17" name="Text 15"/>
          <p:cNvSpPr/>
          <p:nvPr/>
        </p:nvSpPr>
        <p:spPr>
          <a:xfrm>
            <a:off x="7360920" y="3273551"/>
            <a:ext cx="4114800" cy="1435607"/>
          </a:xfrm>
          <a:prstGeom prst="rect">
            <a:avLst/>
          </a:prstGeom>
          <a:noFill/>
          <a:ln/>
        </p:spPr>
        <p:txBody>
          <a:bodyPr wrap="square" lIns="0" tIns="0" rIns="0" bIns="0" rtlCol="0" anchor="t"/>
          <a:lstStyle/>
          <a:p>
            <a:pPr marL="0" indent="0">
              <a:lnSpc>
                <a:spcPts val="1150"/>
              </a:lnSpc>
              <a:buNone/>
            </a:pPr>
            <a:r>
              <a:rPr lang="en-US" sz="1200" dirty="0">
                <a:solidFill>
                  <a:srgbClr val="000000"/>
                </a:solidFill>
                <a:latin typeface="Calibri" pitchFamily="34" charset="0"/>
                <a:ea typeface="Calibri" pitchFamily="34" charset="-122"/>
                <a:cs typeface="Calibri" pitchFamily="34" charset="-120"/>
              </a:rPr>
              <a:t>αₜ , βₜ - throughput per worker / per equipment unit</a:t>
            </a:r>
            <a:endParaRPr lang="en-US" sz="1200" dirty="0"/>
          </a:p>
          <a:p>
            <a:pPr marL="0" indent="0">
              <a:lnSpc>
                <a:spcPts val="1150"/>
              </a:lnSpc>
              <a:buNone/>
            </a:pPr>
            <a:r>
              <a:rPr lang="en-US" sz="1200" dirty="0">
                <a:solidFill>
                  <a:srgbClr val="000000"/>
                </a:solidFill>
                <a:latin typeface="Calibri" pitchFamily="34" charset="0"/>
                <a:ea typeface="Calibri" pitchFamily="34" charset="-122"/>
                <a:cs typeface="Calibri" pitchFamily="34" charset="-120"/>
              </a:rPr>
              <a:t>Dₜ - demand,   Capₜ - capacity,</a:t>
            </a:r>
          </a:p>
          <a:p>
            <a:pPr marL="0" indent="0">
              <a:lnSpc>
                <a:spcPts val="1150"/>
              </a:lnSpc>
              <a:buNone/>
            </a:pPr>
            <a:r>
              <a:rPr lang="en-US" sz="1200" dirty="0">
                <a:solidFill>
                  <a:srgbClr val="000000"/>
                </a:solidFill>
                <a:latin typeface="Calibri" pitchFamily="34" charset="0"/>
                <a:ea typeface="Calibri" pitchFamily="34" charset="-122"/>
                <a:cs typeface="Calibri" pitchFamily="34" charset="-120"/>
              </a:rPr>
              <a:t>M – unmet demand penalty</a:t>
            </a:r>
            <a:endParaRPr lang="en-US" sz="1200" dirty="0"/>
          </a:p>
          <a:p>
            <a:pPr marL="0" indent="0">
              <a:lnSpc>
                <a:spcPts val="1150"/>
              </a:lnSpc>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marL="0" indent="0">
              <a:lnSpc>
                <a:spcPts val="1150"/>
              </a:lnSpc>
              <a:buNone/>
            </a:pPr>
            <a:r>
              <a:rPr lang="en-US" sz="1200" b="1" dirty="0">
                <a:solidFill>
                  <a:srgbClr val="000000"/>
                </a:solidFill>
                <a:latin typeface="Calibri" pitchFamily="34" charset="0"/>
                <a:ea typeface="Calibri" pitchFamily="34" charset="-122"/>
                <a:cs typeface="Calibri" pitchFamily="34" charset="-120"/>
              </a:rPr>
              <a:t>Derived from the data:</a:t>
            </a:r>
            <a:endParaRPr lang="en-US" sz="1200" dirty="0"/>
          </a:p>
          <a:p>
            <a:pPr marL="0" indent="0">
              <a:lnSpc>
                <a:spcPts val="1150"/>
              </a:lnSpc>
              <a:buNone/>
            </a:pPr>
            <a:r>
              <a:rPr lang="en-US" sz="1200" dirty="0">
                <a:solidFill>
                  <a:srgbClr val="000000"/>
                </a:solidFill>
                <a:latin typeface="Calibri" pitchFamily="34" charset="0"/>
                <a:ea typeface="Calibri" pitchFamily="34" charset="-122"/>
                <a:cs typeface="Calibri" pitchFamily="34" charset="-120"/>
              </a:rPr>
              <a:t>αₜ  =  θ × mean throughput / mean workforce</a:t>
            </a:r>
            <a:endParaRPr lang="en-US" sz="1200" dirty="0"/>
          </a:p>
          <a:p>
            <a:pPr marL="0" indent="0">
              <a:lnSpc>
                <a:spcPts val="1150"/>
              </a:lnSpc>
              <a:buNone/>
            </a:pPr>
            <a:r>
              <a:rPr lang="en-US" sz="1200" dirty="0">
                <a:solidFill>
                  <a:srgbClr val="000000"/>
                </a:solidFill>
                <a:latin typeface="Calibri" pitchFamily="34" charset="0"/>
                <a:ea typeface="Calibri" pitchFamily="34" charset="-122"/>
                <a:cs typeface="Calibri" pitchFamily="34" charset="-120"/>
              </a:rPr>
              <a:t>βₜ  =  (1 − θ) × mean throughput / mean equipment</a:t>
            </a:r>
            <a:endParaRPr lang="en-US" sz="1200" dirty="0"/>
          </a:p>
          <a:p>
            <a:pPr marL="0" indent="0">
              <a:lnSpc>
                <a:spcPts val="1150"/>
              </a:lnSpc>
              <a:buNone/>
            </a:pPr>
            <a:r>
              <a:rPr lang="en-US" sz="1200" dirty="0">
                <a:solidFill>
                  <a:srgbClr val="000000"/>
                </a:solidFill>
                <a:latin typeface="Calibri" pitchFamily="34" charset="0"/>
                <a:ea typeface="Calibri" pitchFamily="34" charset="-122"/>
                <a:cs typeface="Calibri" pitchFamily="34" charset="-120"/>
              </a:rPr>
              <a:t>means taken per terminal;  θ = 0.6 is the labour share,</a:t>
            </a:r>
            <a:endParaRPr lang="en-US" sz="1200" dirty="0"/>
          </a:p>
          <a:p>
            <a:pPr marL="0" indent="0">
              <a:lnSpc>
                <a:spcPts val="1150"/>
              </a:lnSpc>
              <a:buNone/>
            </a:pPr>
            <a:r>
              <a:rPr lang="en-US" sz="1200" dirty="0">
                <a:solidFill>
                  <a:srgbClr val="000000"/>
                </a:solidFill>
                <a:latin typeface="Calibri" pitchFamily="34" charset="0"/>
                <a:ea typeface="Calibri" pitchFamily="34" charset="-122"/>
                <a:cs typeface="Calibri" pitchFamily="34" charset="-120"/>
              </a:rPr>
              <a:t>the fraction of throughput attributed to the workforce</a:t>
            </a:r>
            <a:endParaRPr lang="en-US" sz="1200" dirty="0"/>
          </a:p>
        </p:txBody>
      </p:sp>
      <p:sp>
        <p:nvSpPr>
          <p:cNvPr id="18" name="Text 16"/>
          <p:cNvSpPr/>
          <p:nvPr/>
        </p:nvSpPr>
        <p:spPr>
          <a:xfrm>
            <a:off x="713232" y="4480560"/>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Subject to</a:t>
            </a:r>
            <a:endParaRPr lang="en-US" sz="1500" dirty="0"/>
          </a:p>
        </p:txBody>
      </p:sp>
      <p:sp>
        <p:nvSpPr>
          <p:cNvPr id="19" name="Shape 17"/>
          <p:cNvSpPr/>
          <p:nvPr/>
        </p:nvSpPr>
        <p:spPr>
          <a:xfrm>
            <a:off x="713232" y="4764024"/>
            <a:ext cx="10762488" cy="0"/>
          </a:xfrm>
          <a:prstGeom prst="line">
            <a:avLst/>
          </a:prstGeom>
          <a:noFill/>
          <a:ln w="12700">
            <a:solidFill>
              <a:srgbClr val="000000"/>
            </a:solidFill>
            <a:prstDash val="solid"/>
          </a:ln>
        </p:spPr>
      </p:sp>
      <p:sp>
        <p:nvSpPr>
          <p:cNvPr id="20" name="Text 18"/>
          <p:cNvSpPr/>
          <p:nvPr/>
        </p:nvSpPr>
        <p:spPr>
          <a:xfrm>
            <a:off x="1051560" y="4846320"/>
            <a:ext cx="4572000" cy="1097280"/>
          </a:xfrm>
          <a:prstGeom prst="rect">
            <a:avLst/>
          </a:prstGeom>
          <a:noFill/>
          <a:ln/>
        </p:spPr>
        <p:txBody>
          <a:bodyPr wrap="square" lIns="0" tIns="0" rIns="0" bIns="0" rtlCol="0" anchor="t"/>
          <a:lstStyle/>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Σₜ wₜ  ≤  W</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Σₜ eₜ  ≤  E</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αₜ wₜ + βₜ eₜ + sₜ  ≥  Dₜ</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αₜ wₜ + βₜ eₜ  ≤  Capₜ</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wₜᵐⁱⁿ ≤ wₜ ≤ wₜᵐᵃˣ ,   eₜᵐⁱⁿ ≤ eₜ ≤ eₜᵐᵃˣ</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wₜ , eₜ , sₜ  ≥  0</a:t>
            </a:r>
            <a:endParaRPr lang="en-US" sz="1200" dirty="0"/>
          </a:p>
        </p:txBody>
      </p:sp>
      <p:sp>
        <p:nvSpPr>
          <p:cNvPr id="21" name="Text 19"/>
          <p:cNvSpPr/>
          <p:nvPr/>
        </p:nvSpPr>
        <p:spPr>
          <a:xfrm>
            <a:off x="5760720" y="4846320"/>
            <a:ext cx="4754880" cy="1097280"/>
          </a:xfrm>
          <a:prstGeom prst="rect">
            <a:avLst/>
          </a:prstGeom>
          <a:noFill/>
          <a:ln/>
        </p:spPr>
        <p:txBody>
          <a:bodyPr wrap="square" lIns="0" tIns="0" rIns="0" bIns="0" rtlCol="0" anchor="t"/>
          <a:lstStyle/>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total workers available</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total equipment available</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demand at each terminal</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handling capacity of the terminal</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allocation limit per terminal</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non-negativity</a:t>
            </a:r>
            <a:endParaRPr lang="en-US" sz="1150" dirty="0"/>
          </a:p>
        </p:txBody>
      </p:sp>
      <p:sp>
        <p:nvSpPr>
          <p:cNvPr id="22" name="Text 20"/>
          <p:cNvSpPr/>
          <p:nvPr/>
        </p:nvSpPr>
        <p:spPr>
          <a:xfrm>
            <a:off x="10698480" y="4846320"/>
            <a:ext cx="548640" cy="1097280"/>
          </a:xfrm>
          <a:prstGeom prst="rect">
            <a:avLst/>
          </a:prstGeom>
          <a:noFill/>
          <a:ln/>
        </p:spPr>
        <p:txBody>
          <a:bodyPr wrap="square" lIns="0" tIns="0" rIns="0" bIns="0" rtlCol="0" anchor="t"/>
          <a:lstStyle/>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(1)</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(2)</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(3)</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(4)</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(5)</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(6)</a:t>
            </a:r>
            <a:endParaRPr lang="en-US" sz="1150" dirty="0"/>
          </a:p>
        </p:txBody>
      </p:sp>
      <p:sp>
        <p:nvSpPr>
          <p:cNvPr id="23" name="Text 21"/>
          <p:cNvSpPr/>
          <p:nvPr/>
        </p:nvSpPr>
        <p:spPr>
          <a:xfrm>
            <a:off x="713232" y="5998464"/>
            <a:ext cx="9509760" cy="274320"/>
          </a:xfrm>
          <a:prstGeom prst="rect">
            <a:avLst/>
          </a:prstGeom>
          <a:noFill/>
          <a:ln/>
        </p:spPr>
        <p:txBody>
          <a:bodyPr wrap="square" lIns="0" tIns="0" rIns="0" bIns="0" rtlCol="0" anchor="ctr"/>
          <a:lstStyle/>
          <a:p>
            <a:pPr marL="0" indent="0">
              <a:buNone/>
            </a:pPr>
            <a:r>
              <a:rPr lang="en-US" sz="1250" b="1" dirty="0">
                <a:solidFill>
                  <a:srgbClr val="000000"/>
                </a:solidFill>
                <a:latin typeface="Calibri" pitchFamily="34" charset="0"/>
                <a:ea typeface="Calibri" pitchFamily="34" charset="-122"/>
                <a:cs typeface="Calibri" pitchFamily="34" charset="-120"/>
              </a:rPr>
              <a:t>Goal: </a:t>
            </a:r>
            <a:r>
              <a:rPr lang="en-US" sz="1250" dirty="0">
                <a:solidFill>
                  <a:srgbClr val="000000"/>
                </a:solidFill>
                <a:latin typeface="Calibri" pitchFamily="34" charset="0"/>
                <a:ea typeface="Calibri" pitchFamily="34" charset="-122"/>
                <a:cs typeface="Calibri" pitchFamily="34" charset="-120"/>
              </a:rPr>
              <a:t>Allocate the available workers and equipment across the four terminals in the best possible way.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5602"/>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9</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Optimization Model 2</a:t>
            </a:r>
            <a:endParaRPr lang="en-US" sz="3200" dirty="0"/>
          </a:p>
        </p:txBody>
      </p:sp>
      <p:sp>
        <p:nvSpPr>
          <p:cNvPr id="5" name="Text 3"/>
          <p:cNvSpPr/>
          <p:nvPr/>
        </p:nvSpPr>
        <p:spPr>
          <a:xfrm>
            <a:off x="640080" y="1115568"/>
            <a:ext cx="10908792" cy="274320"/>
          </a:xfrm>
          <a:prstGeom prst="rect">
            <a:avLst/>
          </a:prstGeom>
          <a:noFill/>
          <a:ln/>
        </p:spPr>
        <p:txBody>
          <a:bodyPr wrap="square" lIns="0" tIns="0" rIns="0" bIns="0" rtlCol="0" anchor="ctr"/>
          <a:lstStyle/>
          <a:p>
            <a:pPr marL="0" indent="0" algn="ctr">
              <a:buNone/>
            </a:pPr>
            <a:r>
              <a:rPr lang="en-US" sz="1500" b="1" dirty="0">
                <a:solidFill>
                  <a:srgbClr val="000000"/>
                </a:solidFill>
                <a:latin typeface="Calibri" pitchFamily="34" charset="0"/>
                <a:ea typeface="Calibri" pitchFamily="34" charset="-122"/>
                <a:cs typeface="Calibri" pitchFamily="34" charset="-120"/>
              </a:rPr>
              <a:t>Shipment Selection  —  Integer Programming</a:t>
            </a:r>
            <a:endParaRPr lang="en-US" sz="1500" dirty="0"/>
          </a:p>
        </p:txBody>
      </p:sp>
      <p:sp>
        <p:nvSpPr>
          <p:cNvPr id="6" name="Text 4"/>
          <p:cNvSpPr/>
          <p:nvPr/>
        </p:nvSpPr>
        <p:spPr>
          <a:xfrm>
            <a:off x="713232" y="1408176"/>
            <a:ext cx="10762488" cy="438912"/>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Calibri" pitchFamily="34" charset="0"/>
                <a:ea typeface="Calibri" pitchFamily="34" charset="-122"/>
                <a:cs typeface="Calibri" pitchFamily="34" charset="-120"/>
              </a:rPr>
              <a:t>Determine which shipments should be processed in the current time window so that the total priority value is maximized without crossing the available capacity.</a:t>
            </a:r>
            <a:endParaRPr lang="en-US" sz="1400" dirty="0"/>
          </a:p>
        </p:txBody>
      </p:sp>
      <p:sp>
        <p:nvSpPr>
          <p:cNvPr id="7" name="Text 5"/>
          <p:cNvSpPr/>
          <p:nvPr/>
        </p:nvSpPr>
        <p:spPr>
          <a:xfrm>
            <a:off x="713232" y="1901952"/>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Decision Variable</a:t>
            </a:r>
            <a:endParaRPr lang="en-US" sz="1500" dirty="0"/>
          </a:p>
        </p:txBody>
      </p:sp>
      <p:sp>
        <p:nvSpPr>
          <p:cNvPr id="8" name="Shape 6"/>
          <p:cNvSpPr/>
          <p:nvPr/>
        </p:nvSpPr>
        <p:spPr>
          <a:xfrm>
            <a:off x="713232" y="2185416"/>
            <a:ext cx="10762488" cy="0"/>
          </a:xfrm>
          <a:prstGeom prst="line">
            <a:avLst/>
          </a:prstGeom>
          <a:noFill/>
          <a:ln w="12700">
            <a:solidFill>
              <a:srgbClr val="000000"/>
            </a:solidFill>
            <a:prstDash val="solid"/>
          </a:ln>
        </p:spPr>
      </p:sp>
      <p:sp>
        <p:nvSpPr>
          <p:cNvPr id="9" name="Text 7"/>
          <p:cNvSpPr/>
          <p:nvPr/>
        </p:nvSpPr>
        <p:spPr>
          <a:xfrm>
            <a:off x="960120" y="2267712"/>
            <a:ext cx="1645920" cy="256032"/>
          </a:xfrm>
          <a:prstGeom prst="rect">
            <a:avLst/>
          </a:prstGeom>
          <a:noFill/>
          <a:ln/>
        </p:spPr>
        <p:txBody>
          <a:bodyPr wrap="square" lIns="0" tIns="0" rIns="0" bIns="0" rtlCol="0" anchor="ctr"/>
          <a:lstStyle/>
          <a:p>
            <a:pPr marL="0" indent="0">
              <a:buNone/>
            </a:pPr>
            <a:r>
              <a:rPr lang="en-US" sz="1350" dirty="0">
                <a:solidFill>
                  <a:srgbClr val="000000"/>
                </a:solidFill>
                <a:latin typeface="Calibri" pitchFamily="34" charset="0"/>
                <a:ea typeface="Calibri" pitchFamily="34" charset="-122"/>
                <a:cs typeface="Calibri" pitchFamily="34" charset="-120"/>
              </a:rPr>
              <a:t>xᵢ  ∈  { 0, 1 }</a:t>
            </a:r>
            <a:endParaRPr lang="en-US" sz="1350" dirty="0"/>
          </a:p>
        </p:txBody>
      </p:sp>
      <p:sp>
        <p:nvSpPr>
          <p:cNvPr id="10" name="Text 8"/>
          <p:cNvSpPr/>
          <p:nvPr/>
        </p:nvSpPr>
        <p:spPr>
          <a:xfrm>
            <a:off x="2743200" y="2267712"/>
            <a:ext cx="4937760" cy="256032"/>
          </a:xfrm>
          <a:prstGeom prst="rect">
            <a:avLst/>
          </a:prstGeom>
          <a:noFill/>
          <a:ln/>
        </p:spPr>
        <p:txBody>
          <a:bodyPr wrap="square" lIns="0" tIns="0" rIns="0" bIns="0" rtlCol="0" anchor="ctr"/>
          <a:lstStyle/>
          <a:p>
            <a:pPr marL="0" indent="0">
              <a:buNone/>
            </a:pPr>
            <a:r>
              <a:rPr lang="en-US" sz="1350" dirty="0">
                <a:solidFill>
                  <a:srgbClr val="000000"/>
                </a:solidFill>
                <a:latin typeface="Calibri" pitchFamily="34" charset="0"/>
                <a:ea typeface="Calibri" pitchFamily="34" charset="-122"/>
                <a:cs typeface="Calibri" pitchFamily="34" charset="-120"/>
              </a:rPr>
              <a:t>= 1 if shipment i is processed in this window,  otherwise 0</a:t>
            </a:r>
            <a:endParaRPr lang="en-US" sz="1350" dirty="0"/>
          </a:p>
        </p:txBody>
      </p:sp>
      <p:sp>
        <p:nvSpPr>
          <p:cNvPr id="11" name="Text 9"/>
          <p:cNvSpPr/>
          <p:nvPr/>
        </p:nvSpPr>
        <p:spPr>
          <a:xfrm>
            <a:off x="960120" y="2560320"/>
            <a:ext cx="6400800" cy="256032"/>
          </a:xfrm>
          <a:prstGeom prst="rect">
            <a:avLst/>
          </a:prstGeom>
          <a:noFill/>
          <a:ln/>
        </p:spPr>
        <p:txBody>
          <a:bodyPr wrap="square" lIns="0" tIns="0" rIns="0" bIns="0" rtlCol="0" anchor="ctr"/>
          <a:lstStyle/>
          <a:p>
            <a:pPr marL="0" indent="0">
              <a:buNone/>
            </a:pPr>
            <a:r>
              <a:rPr lang="en-US" sz="1100" i="1" dirty="0">
                <a:solidFill>
                  <a:srgbClr val="000000"/>
                </a:solidFill>
                <a:latin typeface="Calibri" pitchFamily="34" charset="0"/>
                <a:ea typeface="Calibri" pitchFamily="34" charset="-122"/>
                <a:cs typeface="Calibri" pitchFamily="34" charset="-120"/>
              </a:rPr>
              <a:t>for every shipment  i = 1, 2, … , n  in the selected batch</a:t>
            </a:r>
            <a:endParaRPr lang="en-US" sz="1100" dirty="0"/>
          </a:p>
        </p:txBody>
      </p:sp>
      <p:sp>
        <p:nvSpPr>
          <p:cNvPr id="12" name="Text 10"/>
          <p:cNvSpPr/>
          <p:nvPr/>
        </p:nvSpPr>
        <p:spPr>
          <a:xfrm>
            <a:off x="713232" y="2944368"/>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Objective Function</a:t>
            </a:r>
            <a:endParaRPr lang="en-US" sz="1500" dirty="0"/>
          </a:p>
        </p:txBody>
      </p:sp>
      <p:sp>
        <p:nvSpPr>
          <p:cNvPr id="13" name="Shape 11"/>
          <p:cNvSpPr/>
          <p:nvPr/>
        </p:nvSpPr>
        <p:spPr>
          <a:xfrm>
            <a:off x="713232" y="3227832"/>
            <a:ext cx="10762488" cy="0"/>
          </a:xfrm>
          <a:prstGeom prst="line">
            <a:avLst/>
          </a:prstGeom>
          <a:noFill/>
          <a:ln w="12700">
            <a:solidFill>
              <a:srgbClr val="000000"/>
            </a:solidFill>
            <a:prstDash val="solid"/>
          </a:ln>
        </p:spPr>
      </p:sp>
      <p:sp>
        <p:nvSpPr>
          <p:cNvPr id="14" name="Shape 12"/>
          <p:cNvSpPr/>
          <p:nvPr/>
        </p:nvSpPr>
        <p:spPr>
          <a:xfrm>
            <a:off x="850392" y="3310128"/>
            <a:ext cx="6400800" cy="868680"/>
          </a:xfrm>
          <a:prstGeom prst="rect">
            <a:avLst/>
          </a:prstGeom>
          <a:solidFill>
            <a:srgbClr val="FFFFFF"/>
          </a:solidFill>
          <a:ln w="9525">
            <a:solidFill>
              <a:srgbClr val="000000"/>
            </a:solidFill>
            <a:prstDash val="solid"/>
          </a:ln>
        </p:spPr>
      </p:sp>
      <p:sp>
        <p:nvSpPr>
          <p:cNvPr id="15" name="Text 13"/>
          <p:cNvSpPr/>
          <p:nvPr/>
        </p:nvSpPr>
        <p:spPr>
          <a:xfrm>
            <a:off x="941832" y="3383280"/>
            <a:ext cx="6217920" cy="731520"/>
          </a:xfrm>
          <a:prstGeom prst="rect">
            <a:avLst/>
          </a:prstGeom>
          <a:noFill/>
          <a:ln/>
        </p:spPr>
        <p:txBody>
          <a:bodyPr wrap="square" lIns="0" tIns="0" rIns="0" bIns="0" rtlCol="0" anchor="t"/>
          <a:lstStyle/>
          <a:p>
            <a:pPr marL="0" indent="0">
              <a:lnSpc>
                <a:spcPts val="2100"/>
              </a:lnSpc>
              <a:buNone/>
            </a:pPr>
            <a:r>
              <a:rPr lang="en-US" sz="1450" dirty="0">
                <a:solidFill>
                  <a:srgbClr val="000000"/>
                </a:solidFill>
                <a:latin typeface="Calibri" pitchFamily="34" charset="0"/>
                <a:ea typeface="Calibri" pitchFamily="34" charset="-122"/>
                <a:cs typeface="Calibri" pitchFamily="34" charset="-120"/>
              </a:rPr>
              <a:t>max  Z  =  Σᵢ  vᵢ xᵢ</a:t>
            </a:r>
            <a:endParaRPr lang="en-US" sz="1450" dirty="0"/>
          </a:p>
          <a:p>
            <a:pPr marL="0" indent="0">
              <a:lnSpc>
                <a:spcPts val="2100"/>
              </a:lnSpc>
              <a:buNone/>
            </a:pPr>
            <a:r>
              <a:rPr lang="en-US" sz="1450" dirty="0">
                <a:solidFill>
                  <a:srgbClr val="000000"/>
                </a:solidFill>
                <a:latin typeface="Calibri" pitchFamily="34" charset="0"/>
                <a:ea typeface="Calibri" pitchFamily="34" charset="-122"/>
                <a:cs typeface="Calibri" pitchFamily="34" charset="-120"/>
              </a:rPr>
              <a:t>where     vᵢ  =  pᵢ × ( 1 + λ₁ · waitᵢ  +  λ₂ · queueᵢ )</a:t>
            </a:r>
            <a:endParaRPr lang="en-US" sz="1450" dirty="0"/>
          </a:p>
        </p:txBody>
      </p:sp>
      <p:sp>
        <p:nvSpPr>
          <p:cNvPr id="16" name="Text 14"/>
          <p:cNvSpPr/>
          <p:nvPr/>
        </p:nvSpPr>
        <p:spPr>
          <a:xfrm>
            <a:off x="941832" y="4206240"/>
            <a:ext cx="6400800" cy="228600"/>
          </a:xfrm>
          <a:prstGeom prst="rect">
            <a:avLst/>
          </a:prstGeom>
          <a:noFill/>
          <a:ln/>
        </p:spPr>
        <p:txBody>
          <a:bodyPr wrap="square" lIns="0" tIns="0" rIns="0" bIns="0" rtlCol="0" anchor="ctr"/>
          <a:lstStyle/>
          <a:p>
            <a:pPr marL="0" indent="0">
              <a:buNone/>
            </a:pPr>
            <a:r>
              <a:rPr lang="en-US" sz="1050" i="1" dirty="0">
                <a:solidFill>
                  <a:srgbClr val="000000"/>
                </a:solidFill>
                <a:latin typeface="Calibri" pitchFamily="34" charset="0"/>
                <a:ea typeface="Calibri" pitchFamily="34" charset="-122"/>
                <a:cs typeface="Calibri" pitchFamily="34" charset="-120"/>
              </a:rPr>
              <a:t>total priority value of the shipments processed in this window</a:t>
            </a:r>
            <a:endParaRPr lang="en-US" sz="1050" dirty="0"/>
          </a:p>
        </p:txBody>
      </p:sp>
      <p:sp>
        <p:nvSpPr>
          <p:cNvPr id="17" name="Text 15"/>
          <p:cNvSpPr/>
          <p:nvPr/>
        </p:nvSpPr>
        <p:spPr>
          <a:xfrm>
            <a:off x="7406640" y="3328416"/>
            <a:ext cx="3931920" cy="1051560"/>
          </a:xfrm>
          <a:prstGeom prst="rect">
            <a:avLst/>
          </a:prstGeom>
          <a:noFill/>
          <a:ln/>
        </p:spPr>
        <p:txBody>
          <a:bodyPr wrap="square" lIns="0" tIns="0" rIns="0" bIns="0" rtlCol="0" anchor="t"/>
          <a:lstStyle/>
          <a:p>
            <a:pPr marL="171450" indent="-171450">
              <a:lnSpc>
                <a:spcPts val="1400"/>
              </a:lnSpc>
              <a:buFont typeface="Arial" panose="020B0604020202020204" pitchFamily="34" charset="0"/>
              <a:buChar char="•"/>
            </a:pPr>
            <a:r>
              <a:rPr lang="en-US" sz="1200" dirty="0">
                <a:solidFill>
                  <a:srgbClr val="000000"/>
                </a:solidFill>
                <a:latin typeface="Calibri" pitchFamily="34" charset="0"/>
                <a:ea typeface="Calibri" pitchFamily="34" charset="-122"/>
                <a:cs typeface="Calibri" pitchFamily="34" charset="-120"/>
              </a:rPr>
              <a:t>pᵢ - priority weight  (Critical 10, High 5,Medium 2, Low 1)</a:t>
            </a:r>
            <a:endParaRPr lang="en-US" sz="1200" dirty="0"/>
          </a:p>
          <a:p>
            <a:pPr marL="171450" indent="-171450">
              <a:lnSpc>
                <a:spcPts val="1400"/>
              </a:lnSpc>
              <a:buFont typeface="Arial" panose="020B0604020202020204" pitchFamily="34" charset="0"/>
              <a:buChar char="•"/>
            </a:pPr>
            <a:r>
              <a:rPr lang="en-US" sz="1200" dirty="0">
                <a:solidFill>
                  <a:srgbClr val="000000"/>
                </a:solidFill>
                <a:latin typeface="Calibri" pitchFamily="34" charset="0"/>
                <a:ea typeface="Calibri" pitchFamily="34" charset="-122"/>
                <a:cs typeface="Calibri" pitchFamily="34" charset="-120"/>
              </a:rPr>
              <a:t>waitᵢ , queueᵢ - normalized waiting time and queue length of shipment I</a:t>
            </a:r>
            <a:endParaRPr lang="en-US" sz="1200" dirty="0"/>
          </a:p>
          <a:p>
            <a:pPr marL="171450" indent="-171450">
              <a:lnSpc>
                <a:spcPts val="1400"/>
              </a:lnSpc>
              <a:buFont typeface="Arial" panose="020B0604020202020204" pitchFamily="34" charset="0"/>
              <a:buChar char="•"/>
            </a:pPr>
            <a:r>
              <a:rPr lang="en-US" sz="1200" dirty="0">
                <a:solidFill>
                  <a:srgbClr val="000000"/>
                </a:solidFill>
                <a:latin typeface="Calibri" pitchFamily="34" charset="0"/>
                <a:ea typeface="Calibri" pitchFamily="34" charset="-122"/>
                <a:cs typeface="Calibri" pitchFamily="34" charset="-120"/>
              </a:rPr>
              <a:t>λ₁ , λ₂ - urgency weights</a:t>
            </a:r>
            <a:endParaRPr lang="en-US" sz="1200" dirty="0"/>
          </a:p>
        </p:txBody>
      </p:sp>
      <p:sp>
        <p:nvSpPr>
          <p:cNvPr id="18" name="Text 16"/>
          <p:cNvSpPr/>
          <p:nvPr/>
        </p:nvSpPr>
        <p:spPr>
          <a:xfrm>
            <a:off x="713232" y="4535424"/>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Subject to</a:t>
            </a:r>
            <a:endParaRPr lang="en-US" sz="1500" dirty="0"/>
          </a:p>
        </p:txBody>
      </p:sp>
      <p:sp>
        <p:nvSpPr>
          <p:cNvPr id="19" name="Shape 17"/>
          <p:cNvSpPr/>
          <p:nvPr/>
        </p:nvSpPr>
        <p:spPr>
          <a:xfrm>
            <a:off x="713232" y="4818888"/>
            <a:ext cx="10762488" cy="0"/>
          </a:xfrm>
          <a:prstGeom prst="line">
            <a:avLst/>
          </a:prstGeom>
          <a:noFill/>
          <a:ln w="12700">
            <a:solidFill>
              <a:srgbClr val="000000"/>
            </a:solidFill>
            <a:prstDash val="solid"/>
          </a:ln>
        </p:spPr>
      </p:sp>
      <p:sp>
        <p:nvSpPr>
          <p:cNvPr id="20" name="Text 18"/>
          <p:cNvSpPr/>
          <p:nvPr/>
        </p:nvSpPr>
        <p:spPr>
          <a:xfrm>
            <a:off x="1051560" y="4901184"/>
            <a:ext cx="4206240" cy="914400"/>
          </a:xfrm>
          <a:prstGeom prst="rect">
            <a:avLst/>
          </a:prstGeom>
          <a:noFill/>
          <a:ln/>
        </p:spPr>
        <p:txBody>
          <a:bodyPr wrap="square" lIns="0" tIns="0" rIns="0" bIns="0" rtlCol="0" anchor="t"/>
          <a:lstStyle/>
          <a:p>
            <a:pPr marL="152400" indent="-152400">
              <a:lnSpc>
                <a:spcPts val="1700"/>
              </a:lnSpc>
              <a:buSzPct val="100000"/>
              <a:buChar char="•"/>
            </a:pPr>
            <a:r>
              <a:rPr lang="en-US" sz="1200" dirty="0">
                <a:solidFill>
                  <a:srgbClr val="000000"/>
                </a:solidFill>
                <a:latin typeface="Calibri" pitchFamily="34" charset="0"/>
                <a:ea typeface="Calibri" pitchFamily="34" charset="-122"/>
                <a:cs typeface="Calibri" pitchFamily="34" charset="-120"/>
              </a:rPr>
              <a:t>Σᵢ  Volᵢ xᵢ  ≤  Vᶜᵃᵖ</a:t>
            </a:r>
            <a:endParaRPr lang="en-US" sz="1200" dirty="0"/>
          </a:p>
          <a:p>
            <a:pPr marL="152400" indent="-152400">
              <a:lnSpc>
                <a:spcPts val="1700"/>
              </a:lnSpc>
              <a:buSzPct val="100000"/>
              <a:buChar char="•"/>
            </a:pPr>
            <a:r>
              <a:rPr lang="en-US" sz="1200" dirty="0">
                <a:solidFill>
                  <a:srgbClr val="000000"/>
                </a:solidFill>
                <a:latin typeface="Calibri" pitchFamily="34" charset="0"/>
                <a:ea typeface="Calibri" pitchFamily="34" charset="-122"/>
                <a:cs typeface="Calibri" pitchFamily="34" charset="-120"/>
              </a:rPr>
              <a:t>Σᵢ  ( Hᵢ × Lᵢ ) xᵢ  ≤  Tᶜᵃᵖ</a:t>
            </a:r>
            <a:endParaRPr lang="en-US" sz="1200" dirty="0"/>
          </a:p>
          <a:p>
            <a:pPr marL="152400" indent="-152400">
              <a:lnSpc>
                <a:spcPts val="1700"/>
              </a:lnSpc>
              <a:buSzPct val="100000"/>
              <a:buChar char="•"/>
            </a:pPr>
            <a:r>
              <a:rPr lang="en-US" sz="1200" dirty="0">
                <a:solidFill>
                  <a:srgbClr val="000000"/>
                </a:solidFill>
                <a:latin typeface="Calibri" pitchFamily="34" charset="0"/>
                <a:ea typeface="Calibri" pitchFamily="34" charset="-122"/>
                <a:cs typeface="Calibri" pitchFamily="34" charset="-120"/>
              </a:rPr>
              <a:t>Σᵢ  Eqᵢ xᵢ  ≤  Eᶜᵃᵖ</a:t>
            </a:r>
            <a:endParaRPr lang="en-US" sz="1200" dirty="0"/>
          </a:p>
          <a:p>
            <a:pPr marL="152400" indent="-152400">
              <a:lnSpc>
                <a:spcPts val="1700"/>
              </a:lnSpc>
              <a:buSzPct val="100000"/>
              <a:buChar char="•"/>
            </a:pPr>
            <a:r>
              <a:rPr lang="en-US" sz="1200" dirty="0">
                <a:solidFill>
                  <a:srgbClr val="000000"/>
                </a:solidFill>
                <a:latin typeface="Calibri" pitchFamily="34" charset="0"/>
                <a:ea typeface="Calibri" pitchFamily="34" charset="-122"/>
                <a:cs typeface="Calibri" pitchFamily="34" charset="-120"/>
              </a:rPr>
              <a:t>xᵢ  ∈  { 0, 1 }</a:t>
            </a:r>
            <a:endParaRPr lang="en-US" sz="1200" dirty="0"/>
          </a:p>
        </p:txBody>
      </p:sp>
      <p:sp>
        <p:nvSpPr>
          <p:cNvPr id="21" name="Text 19"/>
          <p:cNvSpPr/>
          <p:nvPr/>
        </p:nvSpPr>
        <p:spPr>
          <a:xfrm>
            <a:off x="5486400" y="4901184"/>
            <a:ext cx="5029200" cy="914400"/>
          </a:xfrm>
          <a:prstGeom prst="rect">
            <a:avLst/>
          </a:prstGeom>
          <a:noFill/>
          <a:ln/>
        </p:spPr>
        <p:txBody>
          <a:bodyPr wrap="square" lIns="0" tIns="0" rIns="0" bIns="0" rtlCol="0" anchor="t"/>
          <a:lstStyle/>
          <a:p>
            <a:pPr marL="0" indent="0">
              <a:lnSpc>
                <a:spcPts val="1700"/>
              </a:lnSpc>
              <a:buNone/>
            </a:pPr>
            <a:r>
              <a:rPr lang="en-US" sz="1200" i="1" dirty="0">
                <a:solidFill>
                  <a:srgbClr val="000000"/>
                </a:solidFill>
                <a:latin typeface="Calibri" pitchFamily="34" charset="0"/>
                <a:ea typeface="Calibri" pitchFamily="34" charset="-122"/>
                <a:cs typeface="Calibri" pitchFamily="34" charset="-120"/>
              </a:rPr>
              <a:t>storage capacity available in this window</a:t>
            </a:r>
            <a:endParaRPr lang="en-US" sz="1200" dirty="0"/>
          </a:p>
          <a:p>
            <a:pPr marL="0" indent="0">
              <a:lnSpc>
                <a:spcPts val="1700"/>
              </a:lnSpc>
              <a:buNone/>
            </a:pPr>
            <a:r>
              <a:rPr lang="en-US" sz="1200" i="1" dirty="0">
                <a:solidFill>
                  <a:srgbClr val="000000"/>
                </a:solidFill>
                <a:latin typeface="Calibri" pitchFamily="34" charset="0"/>
                <a:ea typeface="Calibri" pitchFamily="34" charset="-122"/>
                <a:cs typeface="Calibri" pitchFamily="34" charset="-120"/>
              </a:rPr>
              <a:t>worker-minutes available  (handling time × workers)</a:t>
            </a:r>
            <a:endParaRPr lang="en-US" sz="1200" dirty="0"/>
          </a:p>
          <a:p>
            <a:pPr marL="0" indent="0">
              <a:lnSpc>
                <a:spcPts val="1700"/>
              </a:lnSpc>
              <a:buNone/>
            </a:pPr>
            <a:r>
              <a:rPr lang="en-US" sz="1200" i="1" dirty="0">
                <a:solidFill>
                  <a:srgbClr val="000000"/>
                </a:solidFill>
                <a:latin typeface="Calibri" pitchFamily="34" charset="0"/>
                <a:ea typeface="Calibri" pitchFamily="34" charset="-122"/>
                <a:cs typeface="Calibri" pitchFamily="34" charset="-120"/>
              </a:rPr>
              <a:t>equipment slots available</a:t>
            </a:r>
            <a:endParaRPr lang="en-US" sz="1200" dirty="0"/>
          </a:p>
          <a:p>
            <a:pPr marL="0" indent="0">
              <a:lnSpc>
                <a:spcPts val="1700"/>
              </a:lnSpc>
              <a:buNone/>
            </a:pPr>
            <a:r>
              <a:rPr lang="en-US" sz="1200" i="1" dirty="0">
                <a:solidFill>
                  <a:srgbClr val="000000"/>
                </a:solidFill>
                <a:latin typeface="Calibri" pitchFamily="34" charset="0"/>
                <a:ea typeface="Calibri" pitchFamily="34" charset="-122"/>
                <a:cs typeface="Calibri" pitchFamily="34" charset="-120"/>
              </a:rPr>
              <a:t>binary  a shipment cannot be partly processed</a:t>
            </a:r>
            <a:endParaRPr lang="en-US" sz="1200" dirty="0"/>
          </a:p>
        </p:txBody>
      </p:sp>
      <p:sp>
        <p:nvSpPr>
          <p:cNvPr id="22" name="Text 20"/>
          <p:cNvSpPr/>
          <p:nvPr/>
        </p:nvSpPr>
        <p:spPr>
          <a:xfrm>
            <a:off x="10698480" y="4901184"/>
            <a:ext cx="548640" cy="914400"/>
          </a:xfrm>
          <a:prstGeom prst="rect">
            <a:avLst/>
          </a:prstGeom>
          <a:noFill/>
          <a:ln/>
        </p:spPr>
        <p:txBody>
          <a:bodyPr wrap="square" lIns="0" tIns="0" rIns="0" bIns="0" rtlCol="0" anchor="t"/>
          <a:lstStyle/>
          <a:p>
            <a:pPr marL="0" indent="0" algn="r">
              <a:lnSpc>
                <a:spcPts val="1700"/>
              </a:lnSpc>
              <a:buNone/>
            </a:pPr>
            <a:r>
              <a:rPr lang="en-US" sz="1200" dirty="0">
                <a:solidFill>
                  <a:srgbClr val="000000"/>
                </a:solidFill>
                <a:latin typeface="Calibri" pitchFamily="34" charset="0"/>
                <a:ea typeface="Calibri" pitchFamily="34" charset="-122"/>
                <a:cs typeface="Calibri" pitchFamily="34" charset="-120"/>
              </a:rPr>
              <a:t>(1)</a:t>
            </a:r>
            <a:endParaRPr lang="en-US" sz="1200" dirty="0"/>
          </a:p>
          <a:p>
            <a:pPr marL="0" indent="0" algn="r">
              <a:lnSpc>
                <a:spcPts val="1700"/>
              </a:lnSpc>
              <a:buNone/>
            </a:pPr>
            <a:r>
              <a:rPr lang="en-US" sz="1200" dirty="0">
                <a:solidFill>
                  <a:srgbClr val="000000"/>
                </a:solidFill>
                <a:latin typeface="Calibri" pitchFamily="34" charset="0"/>
                <a:ea typeface="Calibri" pitchFamily="34" charset="-122"/>
                <a:cs typeface="Calibri" pitchFamily="34" charset="-120"/>
              </a:rPr>
              <a:t>(2)</a:t>
            </a:r>
            <a:endParaRPr lang="en-US" sz="1200" dirty="0"/>
          </a:p>
          <a:p>
            <a:pPr marL="0" indent="0" algn="r">
              <a:lnSpc>
                <a:spcPts val="1700"/>
              </a:lnSpc>
              <a:buNone/>
            </a:pPr>
            <a:r>
              <a:rPr lang="en-US" sz="1200" dirty="0">
                <a:solidFill>
                  <a:srgbClr val="000000"/>
                </a:solidFill>
                <a:latin typeface="Calibri" pitchFamily="34" charset="0"/>
                <a:ea typeface="Calibri" pitchFamily="34" charset="-122"/>
                <a:cs typeface="Calibri" pitchFamily="34" charset="-120"/>
              </a:rPr>
              <a:t>(3)</a:t>
            </a:r>
            <a:endParaRPr lang="en-US" sz="1200" dirty="0"/>
          </a:p>
          <a:p>
            <a:pPr marL="0" indent="0" algn="r">
              <a:lnSpc>
                <a:spcPts val="1700"/>
              </a:lnSpc>
              <a:buNone/>
            </a:pPr>
            <a:r>
              <a:rPr lang="en-US" sz="1200" dirty="0">
                <a:solidFill>
                  <a:srgbClr val="000000"/>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713232" y="5943600"/>
            <a:ext cx="9509760" cy="274320"/>
          </a:xfrm>
          <a:prstGeom prst="rect">
            <a:avLst/>
          </a:prstGeom>
          <a:noFill/>
          <a:ln/>
        </p:spPr>
        <p:txBody>
          <a:bodyPr wrap="square" lIns="0" tIns="0" rIns="0" bIns="0" rtlCol="0" anchor="ctr"/>
          <a:lstStyle/>
          <a:p>
            <a:pPr marL="0" indent="0">
              <a:buNone/>
            </a:pPr>
            <a:r>
              <a:rPr lang="en-US" sz="1250" b="1" dirty="0">
                <a:solidFill>
                  <a:srgbClr val="000000"/>
                </a:solidFill>
                <a:latin typeface="Calibri" pitchFamily="34" charset="0"/>
                <a:ea typeface="Calibri" pitchFamily="34" charset="-122"/>
                <a:cs typeface="Calibri" pitchFamily="34" charset="-120"/>
              </a:rPr>
              <a:t>Goal: </a:t>
            </a:r>
            <a:r>
              <a:rPr lang="en-US" sz="1250" dirty="0">
                <a:solidFill>
                  <a:srgbClr val="000000"/>
                </a:solidFill>
                <a:latin typeface="Calibri" pitchFamily="34" charset="0"/>
                <a:ea typeface="Calibri" pitchFamily="34" charset="-122"/>
                <a:cs typeface="Calibri" pitchFamily="34" charset="-120"/>
              </a:rPr>
              <a:t>Process the most important shipments first while staying inside the available capacity.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10</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Sensitivity Analysis</a:t>
            </a:r>
            <a:endParaRPr lang="en-US" sz="3200" dirty="0"/>
          </a:p>
        </p:txBody>
      </p:sp>
      <p:sp>
        <p:nvSpPr>
          <p:cNvPr id="5" name="Text 3"/>
          <p:cNvSpPr/>
          <p:nvPr/>
        </p:nvSpPr>
        <p:spPr>
          <a:xfrm>
            <a:off x="713232" y="1444752"/>
            <a:ext cx="10762488" cy="320040"/>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Evaluate how changes in the terminal conditions affect the optimal resource allocation and shipment selection decisions.</a:t>
            </a:r>
            <a:endParaRPr lang="en-US" sz="1500" dirty="0"/>
          </a:p>
        </p:txBody>
      </p:sp>
      <p:sp>
        <p:nvSpPr>
          <p:cNvPr id="6" name="Text 4"/>
          <p:cNvSpPr/>
          <p:nvPr/>
        </p:nvSpPr>
        <p:spPr>
          <a:xfrm>
            <a:off x="713232" y="1920240"/>
            <a:ext cx="27432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Scenarios</a:t>
            </a:r>
            <a:endParaRPr lang="en-US" sz="1500" dirty="0"/>
          </a:p>
        </p:txBody>
      </p:sp>
      <p:sp>
        <p:nvSpPr>
          <p:cNvPr id="7" name="Text 5"/>
          <p:cNvSpPr/>
          <p:nvPr/>
        </p:nvSpPr>
        <p:spPr>
          <a:xfrm>
            <a:off x="713232" y="2249424"/>
            <a:ext cx="5760720" cy="3291840"/>
          </a:xfrm>
          <a:prstGeom prst="rect">
            <a:avLst/>
          </a:prstGeom>
          <a:noFill/>
          <a:ln/>
        </p:spPr>
        <p:txBody>
          <a:bodyPr wrap="square" lIns="0" tIns="0" rIns="0" bIns="0" rtlCol="0" anchor="t"/>
          <a:lstStyle/>
          <a:p>
            <a:pPr marL="0" indent="0">
              <a:lnSpc>
                <a:spcPts val="1800"/>
              </a:lnSpc>
              <a:buNone/>
            </a:pPr>
            <a:r>
              <a:rPr lang="en-US" sz="1300" b="1" dirty="0">
                <a:solidFill>
                  <a:srgbClr val="000000"/>
                </a:solidFill>
                <a:latin typeface="Calibri" pitchFamily="34" charset="0"/>
                <a:ea typeface="Calibri" pitchFamily="34" charset="-122"/>
                <a:cs typeface="Calibri" pitchFamily="34" charset="-120"/>
              </a:rPr>
              <a:t>Resource Pool Variation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Study the solution when the total number of workers or equipment units increases or decreases.</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lnSpc>
                <a:spcPts val="1800"/>
              </a:lnSpc>
              <a:buNone/>
            </a:pPr>
            <a:r>
              <a:rPr lang="en-US" sz="1300" b="1" dirty="0">
                <a:solidFill>
                  <a:srgbClr val="000000"/>
                </a:solidFill>
                <a:latin typeface="Calibri" pitchFamily="34" charset="0"/>
                <a:ea typeface="Calibri" pitchFamily="34" charset="-122"/>
                <a:cs typeface="Calibri" pitchFamily="34" charset="-120"/>
              </a:rPr>
              <a:t>Demand Variation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Examine the effect of higher or lower terminal demand on the allocation.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lnSpc>
                <a:spcPts val="1800"/>
              </a:lnSpc>
              <a:buNone/>
            </a:pPr>
            <a:r>
              <a:rPr lang="en-US" sz="1300" b="1" dirty="0">
                <a:solidFill>
                  <a:srgbClr val="000000"/>
                </a:solidFill>
                <a:latin typeface="Calibri" pitchFamily="34" charset="0"/>
                <a:ea typeface="Calibri" pitchFamily="34" charset="-122"/>
                <a:cs typeface="Calibri" pitchFamily="34" charset="-120"/>
              </a:rPr>
              <a:t>Capacity Variation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Study how changes in storage, handling time and equipment capacity affect the shipment selection.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lnSpc>
                <a:spcPts val="1800"/>
              </a:lnSpc>
              <a:buNone/>
            </a:pPr>
            <a:r>
              <a:rPr lang="en-US" sz="1300" b="1" dirty="0">
                <a:solidFill>
                  <a:srgbClr val="000000"/>
                </a:solidFill>
                <a:latin typeface="Calibri" pitchFamily="34" charset="0"/>
                <a:ea typeface="Calibri" pitchFamily="34" charset="-122"/>
                <a:cs typeface="Calibri" pitchFamily="34" charset="-120"/>
              </a:rPr>
              <a:t>Cost and Priority Variation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Analyze the impact of changes in the operational cost and the priority weights on the optimal solution.</a:t>
            </a:r>
            <a:endParaRPr lang="en-US" sz="1300" dirty="0"/>
          </a:p>
        </p:txBody>
      </p:sp>
      <p:sp>
        <p:nvSpPr>
          <p:cNvPr id="8" name="Text 6"/>
          <p:cNvSpPr/>
          <p:nvPr/>
        </p:nvSpPr>
        <p:spPr>
          <a:xfrm>
            <a:off x="6766560" y="1920240"/>
            <a:ext cx="27432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What We Measure</a:t>
            </a:r>
            <a:endParaRPr lang="en-US" sz="1500" dirty="0"/>
          </a:p>
        </p:txBody>
      </p:sp>
      <p:sp>
        <p:nvSpPr>
          <p:cNvPr id="9" name="Text 7"/>
          <p:cNvSpPr/>
          <p:nvPr/>
        </p:nvSpPr>
        <p:spPr>
          <a:xfrm>
            <a:off x="6766560" y="2249424"/>
            <a:ext cx="4480560" cy="1737360"/>
          </a:xfrm>
          <a:prstGeom prst="rect">
            <a:avLst/>
          </a:prstGeom>
          <a:noFill/>
          <a:ln/>
        </p:spPr>
        <p:txBody>
          <a:bodyPr wrap="square" lIns="0" tIns="0" rIns="0" bIns="0" rtlCol="0" anchor="t"/>
          <a:lstStyle/>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Optimal allocation of workers and equipment per terminal</a:t>
            </a:r>
            <a:endParaRPr lang="en-US" sz="1300" dirty="0"/>
          </a:p>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Total throughput and total operational cost</a:t>
            </a:r>
            <a:endParaRPr lang="en-US" sz="1300" dirty="0"/>
          </a:p>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Shadow price of each resource</a:t>
            </a:r>
            <a:endParaRPr lang="en-US" sz="1300" dirty="0"/>
          </a:p>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Which constraints are binding</a:t>
            </a:r>
            <a:endParaRPr lang="en-US" sz="1300" dirty="0"/>
          </a:p>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Number of shipments processed, grouped by priority</a:t>
            </a:r>
            <a:endParaRPr lang="en-US" sz="1300" dirty="0"/>
          </a:p>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Utilization of each capacity</a:t>
            </a:r>
            <a:endParaRPr lang="en-US" sz="1300" dirty="0"/>
          </a:p>
        </p:txBody>
      </p:sp>
      <p:sp>
        <p:nvSpPr>
          <p:cNvPr id="10" name="Shape 8"/>
          <p:cNvSpPr/>
          <p:nvPr/>
        </p:nvSpPr>
        <p:spPr>
          <a:xfrm>
            <a:off x="6766560" y="4160520"/>
            <a:ext cx="4480560" cy="1371600"/>
          </a:xfrm>
          <a:prstGeom prst="rect">
            <a:avLst/>
          </a:prstGeom>
          <a:solidFill>
            <a:srgbClr val="F2F2F2"/>
          </a:solidFill>
          <a:ln w="9525">
            <a:solidFill>
              <a:srgbClr val="000000"/>
            </a:solidFill>
            <a:prstDash val="solid"/>
          </a:ln>
        </p:spPr>
      </p:sp>
      <p:sp>
        <p:nvSpPr>
          <p:cNvPr id="11" name="Text 9"/>
          <p:cNvSpPr/>
          <p:nvPr/>
        </p:nvSpPr>
        <p:spPr>
          <a:xfrm>
            <a:off x="6903720" y="4279392"/>
            <a:ext cx="4206240" cy="1143000"/>
          </a:xfrm>
          <a:prstGeom prst="rect">
            <a:avLst/>
          </a:prstGeom>
          <a:noFill/>
          <a:ln/>
        </p:spPr>
        <p:txBody>
          <a:bodyPr wrap="square" lIns="0" tIns="0" rIns="0" bIns="0" rtlCol="0" anchor="t"/>
          <a:lstStyle/>
          <a:p>
            <a:pPr marL="0" indent="0">
              <a:lnSpc>
                <a:spcPts val="1800"/>
              </a:lnSpc>
              <a:buNone/>
            </a:pPr>
            <a:r>
              <a:rPr lang="en-US" sz="1300" b="1" dirty="0">
                <a:solidFill>
                  <a:srgbClr val="000000"/>
                </a:solidFill>
                <a:latin typeface="Calibri" pitchFamily="34" charset="0"/>
                <a:ea typeface="Calibri" pitchFamily="34" charset="-122"/>
                <a:cs typeface="Calibri" pitchFamily="34" charset="-120"/>
              </a:rPr>
              <a:t>Goal</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Identify how robust the optimal solution is and determine which resource has the greatest impact on the performance of the terminal.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11</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Expected Outcomes</a:t>
            </a:r>
            <a:endParaRPr lang="en-US" sz="3200" dirty="0"/>
          </a:p>
        </p:txBody>
      </p:sp>
      <p:sp>
        <p:nvSpPr>
          <p:cNvPr id="5" name="Text 3"/>
          <p:cNvSpPr/>
          <p:nvPr/>
        </p:nvSpPr>
        <p:spPr>
          <a:xfrm>
            <a:off x="713232" y="1463040"/>
            <a:ext cx="10762488" cy="4526280"/>
          </a:xfrm>
          <a:prstGeom prst="rect">
            <a:avLst/>
          </a:prstGeom>
          <a:noFill/>
          <a:ln/>
        </p:spPr>
        <p:txBody>
          <a:bodyPr wrap="square" lIns="0" tIns="0" rIns="0" bIns="0" rtlCol="0" anchor="t"/>
          <a:lstStyle/>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Optimal number of workers and equipment units for each of the four terminals.</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A resource allocation plan that meets the terminal demand at a lower operational cost.</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The shadow price of each resource, showing which resource is limiting the terminal.</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The best set of shipments to process in a given time window under limited capacity.</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Comparison of both models against the present allocation and first-come-first-served processing.</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Analysis of the effect of changing the resource pool, demand and capacity on the solutions.</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An interactive decision-support interface for exploring different terminal scenarios.</a:t>
            </a:r>
            <a:endParaRPr lang="en-US" sz="1550" dirty="0"/>
          </a:p>
        </p:txBody>
      </p:sp>
      <p:sp>
        <p:nvSpPr>
          <p:cNvPr id="6" name="Text 4"/>
          <p:cNvSpPr/>
          <p:nvPr/>
        </p:nvSpPr>
        <p:spPr>
          <a:xfrm>
            <a:off x="713232" y="5623560"/>
            <a:ext cx="10762488" cy="365760"/>
          </a:xfrm>
          <a:prstGeom prst="rect">
            <a:avLst/>
          </a:prstGeom>
          <a:noFill/>
          <a:ln/>
        </p:spPr>
        <p:txBody>
          <a:bodyPr wrap="square" lIns="0" tIns="0" rIns="0" bIns="0" rtlCol="0" anchor="t"/>
          <a:lstStyle/>
          <a:p>
            <a:pPr marL="0" indent="0">
              <a:lnSpc>
                <a:spcPts val="1900"/>
              </a:lnSpc>
              <a:buNone/>
            </a:pP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12</a:t>
            </a:r>
            <a:endParaRPr lang="en-US" sz="1200" dirty="0"/>
          </a:p>
        </p:txBody>
      </p:sp>
      <p:sp>
        <p:nvSpPr>
          <p:cNvPr id="4" name="Text 2"/>
          <p:cNvSpPr/>
          <p:nvPr/>
        </p:nvSpPr>
        <p:spPr>
          <a:xfrm>
            <a:off x="457200" y="2834640"/>
            <a:ext cx="11274552" cy="822960"/>
          </a:xfrm>
          <a:prstGeom prst="rect">
            <a:avLst/>
          </a:prstGeom>
          <a:noFill/>
          <a:ln/>
        </p:spPr>
        <p:txBody>
          <a:bodyPr wrap="square" lIns="0" tIns="0" rIns="0" bIns="0" rtlCol="0" anchor="ctr"/>
          <a:lstStyle/>
          <a:p>
            <a:pPr marL="0" indent="0" algn="ctr">
              <a:buNone/>
            </a:pPr>
            <a:r>
              <a:rPr lang="en-US" sz="4000" b="1" i="1" dirty="0">
                <a:solidFill>
                  <a:srgbClr val="000000"/>
                </a:solidFill>
                <a:latin typeface="Georgia" pitchFamily="34" charset="0"/>
                <a:ea typeface="Georgia" pitchFamily="34" charset="-122"/>
                <a:cs typeface="Georgia" pitchFamily="34" charset="-120"/>
              </a:rPr>
              <a:t>Thank You</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TotalTime>
  <Words>1876</Words>
  <Application>Microsoft Office PowerPoint</Application>
  <PresentationFormat>Widescreen</PresentationFormat>
  <Paragraphs>254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Satya Karthikeya</cp:lastModifiedBy>
  <cp:revision>10</cp:revision>
  <dcterms:created xsi:type="dcterms:W3CDTF">2026-08-26T17:53:39Z</dcterms:created>
  <dcterms:modified xsi:type="dcterms:W3CDTF">2026-08-27T09:03:18Z</dcterms:modified>
</cp:coreProperties>
</file>